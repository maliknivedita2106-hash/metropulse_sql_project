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1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F33"/>
    <a:srgbClr val="230000"/>
    <a:srgbClr val="23B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vedita Malik" userId="a7107e2345a25e6f" providerId="LiveId" clId="{386FD78B-8977-4A4B-9AA2-05CD8FE7A697}"/>
    <pc:docChg chg="undo custSel addSld delSld modSld">
      <pc:chgData name="Nivedita Malik" userId="a7107e2345a25e6f" providerId="LiveId" clId="{386FD78B-8977-4A4B-9AA2-05CD8FE7A697}" dt="2026-10-25T14:13:00.538" v="688" actId="27636"/>
      <pc:docMkLst>
        <pc:docMk/>
      </pc:docMkLst>
      <pc:sldChg chg="modSp mod">
        <pc:chgData name="Nivedita Malik" userId="a7107e2345a25e6f" providerId="LiveId" clId="{386FD78B-8977-4A4B-9AA2-05CD8FE7A697}" dt="2026-10-25T13:57:18.867" v="685" actId="114"/>
        <pc:sldMkLst>
          <pc:docMk/>
          <pc:sldMk cId="3362405092" sldId="259"/>
        </pc:sldMkLst>
        <pc:spChg chg="mod">
          <ac:chgData name="Nivedita Malik" userId="a7107e2345a25e6f" providerId="LiveId" clId="{386FD78B-8977-4A4B-9AA2-05CD8FE7A697}" dt="2026-10-25T13:57:18.867" v="685" actId="114"/>
          <ac:spMkLst>
            <pc:docMk/>
            <pc:sldMk cId="3362405092" sldId="259"/>
            <ac:spMk id="2" creationId="{371CDBEE-733D-44A6-B1E1-3C1DC6782018}"/>
          </ac:spMkLst>
        </pc:spChg>
        <pc:spChg chg="mod">
          <ac:chgData name="Nivedita Malik" userId="a7107e2345a25e6f" providerId="LiveId" clId="{386FD78B-8977-4A4B-9AA2-05CD8FE7A697}" dt="2026-10-25T13:56:03.785" v="675" actId="27636"/>
          <ac:spMkLst>
            <pc:docMk/>
            <pc:sldMk cId="3362405092" sldId="259"/>
            <ac:spMk id="23" creationId="{F1D4A349-EA60-DBA8-7DA9-A498CDEA33A7}"/>
          </ac:spMkLst>
        </pc:spChg>
        <pc:cxnChg chg="mod">
          <ac:chgData name="Nivedita Malik" userId="a7107e2345a25e6f" providerId="LiveId" clId="{386FD78B-8977-4A4B-9AA2-05CD8FE7A697}" dt="2026-10-25T13:56:15.413" v="677" actId="1076"/>
          <ac:cxnSpMkLst>
            <pc:docMk/>
            <pc:sldMk cId="3362405092" sldId="259"/>
            <ac:cxnSpMk id="33" creationId="{A3689743-76BC-6134-1443-5CDE73F312FE}"/>
          </ac:cxnSpMkLst>
        </pc:cxnChg>
      </pc:sldChg>
      <pc:sldChg chg="modSp add mod">
        <pc:chgData name="Nivedita Malik" userId="a7107e2345a25e6f" providerId="LiveId" clId="{386FD78B-8977-4A4B-9AA2-05CD8FE7A697}" dt="2026-10-25T14:13:00.538" v="688" actId="27636"/>
        <pc:sldMkLst>
          <pc:docMk/>
          <pc:sldMk cId="1277093794" sldId="272"/>
        </pc:sldMkLst>
        <pc:spChg chg="mod">
          <ac:chgData name="Nivedita Malik" userId="a7107e2345a25e6f" providerId="LiveId" clId="{386FD78B-8977-4A4B-9AA2-05CD8FE7A697}" dt="2026-10-25T14:13:00.538" v="688" actId="27636"/>
          <ac:spMkLst>
            <pc:docMk/>
            <pc:sldMk cId="1277093794" sldId="272"/>
            <ac:spMk id="2" creationId="{D5D6E69E-F431-CB7B-2403-A178613818ED}"/>
          </ac:spMkLst>
        </pc:spChg>
        <pc:spChg chg="mod">
          <ac:chgData name="Nivedita Malik" userId="a7107e2345a25e6f" providerId="LiveId" clId="{386FD78B-8977-4A4B-9AA2-05CD8FE7A697}" dt="2026-10-25T13:56:48.122" v="683" actId="27636"/>
          <ac:spMkLst>
            <pc:docMk/>
            <pc:sldMk cId="1277093794" sldId="272"/>
            <ac:spMk id="23" creationId="{BFA126FD-BAD3-0E03-D77D-98BCBA9032CB}"/>
          </ac:spMkLst>
        </pc:spChg>
        <pc:cxnChg chg="mod">
          <ac:chgData name="Nivedita Malik" userId="a7107e2345a25e6f" providerId="LiveId" clId="{386FD78B-8977-4A4B-9AA2-05CD8FE7A697}" dt="2026-10-25T13:56:39.733" v="681" actId="1076"/>
          <ac:cxnSpMkLst>
            <pc:docMk/>
            <pc:sldMk cId="1277093794" sldId="272"/>
            <ac:cxnSpMk id="33" creationId="{079F34F4-0B82-04BA-29DB-960B8834349D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image" Target="../media/image40.sv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image" Target="../media/image40.sv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24E843-D408-40F6-A2A6-34B186DC076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n-US"/>
        </a:p>
      </dgm:t>
    </dgm:pt>
    <dgm:pt modelId="{528B0079-FBF0-40F6-8344-3755C2C6A1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📊 Smart cards were the most used transaction category, contributing the largest share of recorded transactions.</a:t>
          </a:r>
          <a:endParaRPr lang="en-US" dirty="0"/>
        </a:p>
      </dgm:t>
    </dgm:pt>
    <dgm:pt modelId="{013FF602-37EE-46ED-9B2E-61FC94914220}" type="parTrans" cxnId="{A0ADF3DF-ACE2-454F-A4CF-1892B6C9006A}">
      <dgm:prSet/>
      <dgm:spPr/>
      <dgm:t>
        <a:bodyPr/>
        <a:lstStyle/>
        <a:p>
          <a:endParaRPr lang="en-US"/>
        </a:p>
      </dgm:t>
    </dgm:pt>
    <dgm:pt modelId="{43A56355-B2F5-45C4-AB02-8A461560B4CC}" type="sibTrans" cxnId="{A0ADF3DF-ACE2-454F-A4CF-1892B6C9006A}">
      <dgm:prSet/>
      <dgm:spPr/>
      <dgm:t>
        <a:bodyPr/>
        <a:lstStyle/>
        <a:p>
          <a:endParaRPr lang="en-US"/>
        </a:p>
      </dgm:t>
    </dgm:pt>
    <dgm:pt modelId="{6B812AD9-9F99-41E2-8D96-2462811B2C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🎟️ Tokens were the second-highest transaction category, showing strong usage of token-based ticketing.</a:t>
          </a:r>
          <a:endParaRPr lang="en-US"/>
        </a:p>
      </dgm:t>
    </dgm:pt>
    <dgm:pt modelId="{89090B90-C68D-4FCF-9D64-6CBC63B74F67}" type="parTrans" cxnId="{C4BAC047-77A9-4CA8-8310-2C6078348A46}">
      <dgm:prSet/>
      <dgm:spPr/>
      <dgm:t>
        <a:bodyPr/>
        <a:lstStyle/>
        <a:p>
          <a:endParaRPr lang="en-US"/>
        </a:p>
      </dgm:t>
    </dgm:pt>
    <dgm:pt modelId="{98979065-932A-470D-BE67-D7EC5B00D27C}" type="sibTrans" cxnId="{C4BAC047-77A9-4CA8-8310-2C6078348A46}">
      <dgm:prSet/>
      <dgm:spPr/>
      <dgm:t>
        <a:bodyPr/>
        <a:lstStyle/>
        <a:p>
          <a:endParaRPr lang="en-US"/>
        </a:p>
      </dgm:t>
    </dgm:pt>
    <dgm:pt modelId="{1A1C9077-C3F2-4AB3-8B69-A0A746612F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📱 QR transactions showed significant adoption, making QR an important digital ticketing channel.</a:t>
          </a:r>
          <a:endParaRPr lang="en-US" dirty="0"/>
        </a:p>
      </dgm:t>
    </dgm:pt>
    <dgm:pt modelId="{10099EA9-40A5-408C-AA27-E8D843C6D9D8}" type="parTrans" cxnId="{EAC054FE-F5C3-4593-B617-1C61DD53DA56}">
      <dgm:prSet/>
      <dgm:spPr/>
      <dgm:t>
        <a:bodyPr/>
        <a:lstStyle/>
        <a:p>
          <a:endParaRPr lang="en-US"/>
        </a:p>
      </dgm:t>
    </dgm:pt>
    <dgm:pt modelId="{3403EABD-C656-4FB7-9C2E-AB07738ABD8D}" type="sibTrans" cxnId="{EAC054FE-F5C3-4593-B617-1C61DD53DA56}">
      <dgm:prSet/>
      <dgm:spPr/>
      <dgm:t>
        <a:bodyPr/>
        <a:lstStyle/>
        <a:p>
          <a:endParaRPr lang="en-US"/>
        </a:p>
      </dgm:t>
    </dgm:pt>
    <dgm:pt modelId="{55511DE3-376D-4FF0-A1BA-9B54598A47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💬 WhatsApp was the leading QR channel, followed by </a:t>
          </a:r>
          <a:r>
            <a:rPr lang="en-US" b="1" dirty="0" err="1"/>
            <a:t>Namma</a:t>
          </a:r>
          <a:r>
            <a:rPr lang="en-US" b="1" dirty="0"/>
            <a:t> Metro and Paytm, while ONDC had the lowest QR usage.</a:t>
          </a:r>
          <a:endParaRPr lang="en-US" dirty="0"/>
        </a:p>
      </dgm:t>
    </dgm:pt>
    <dgm:pt modelId="{BAA9DD9A-2437-4DCF-BC62-2F76ACD271BE}" type="parTrans" cxnId="{28F5B135-5A82-4304-BBFB-D5DEF715F371}">
      <dgm:prSet/>
      <dgm:spPr/>
      <dgm:t>
        <a:bodyPr/>
        <a:lstStyle/>
        <a:p>
          <a:endParaRPr lang="en-US"/>
        </a:p>
      </dgm:t>
    </dgm:pt>
    <dgm:pt modelId="{BE1BDB89-08C7-4A36-A866-9EF42D842EBB}" type="sibTrans" cxnId="{28F5B135-5A82-4304-BBFB-D5DEF715F371}">
      <dgm:prSet/>
      <dgm:spPr/>
      <dgm:t>
        <a:bodyPr/>
        <a:lstStyle/>
        <a:p>
          <a:endParaRPr lang="en-US"/>
        </a:p>
      </dgm:t>
    </dgm:pt>
    <dgm:pt modelId="{D7EE4432-7E06-4FEB-A4BF-691FED646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🚇 Transaction activity reached its highest daily level on 14 August 2026, indicating a strong peak in overall metro transactions.</a:t>
          </a:r>
          <a:endParaRPr lang="en-US" dirty="0"/>
        </a:p>
      </dgm:t>
    </dgm:pt>
    <dgm:pt modelId="{C06E7172-6B6D-401B-8054-3B94FB279DE6}" type="parTrans" cxnId="{E7AC4B09-1FAD-479D-A261-05BB22B83198}">
      <dgm:prSet/>
      <dgm:spPr/>
      <dgm:t>
        <a:bodyPr/>
        <a:lstStyle/>
        <a:p>
          <a:endParaRPr lang="en-US"/>
        </a:p>
      </dgm:t>
    </dgm:pt>
    <dgm:pt modelId="{08B893E6-8C95-4102-8995-FE479E960BF8}" type="sibTrans" cxnId="{E7AC4B09-1FAD-479D-A261-05BB22B83198}">
      <dgm:prSet/>
      <dgm:spPr/>
      <dgm:t>
        <a:bodyPr/>
        <a:lstStyle/>
        <a:p>
          <a:endParaRPr lang="en-US"/>
        </a:p>
      </dgm:t>
    </dgm:pt>
    <dgm:pt modelId="{001A0FB5-161E-4FEE-AD44-F57862A55A24}" type="pres">
      <dgm:prSet presAssocID="{4724E843-D408-40F6-A2A6-34B186DC0767}" presName="root" presStyleCnt="0">
        <dgm:presLayoutVars>
          <dgm:dir/>
          <dgm:resizeHandles val="exact"/>
        </dgm:presLayoutVars>
      </dgm:prSet>
      <dgm:spPr/>
    </dgm:pt>
    <dgm:pt modelId="{430D5A23-B6AA-44D8-8FFE-F4E9A5E36D1A}" type="pres">
      <dgm:prSet presAssocID="{528B0079-FBF0-40F6-8344-3755C2C6A1FE}" presName="compNode" presStyleCnt="0"/>
      <dgm:spPr/>
    </dgm:pt>
    <dgm:pt modelId="{7B53EB42-9C3F-4FB0-AFFE-74B79E62AFBC}" type="pres">
      <dgm:prSet presAssocID="{528B0079-FBF0-40F6-8344-3755C2C6A1FE}" presName="bgRect" presStyleLbl="bgShp" presStyleIdx="0" presStyleCnt="5"/>
      <dgm:spPr/>
    </dgm:pt>
    <dgm:pt modelId="{12D49780-5CC6-4D8B-BC53-DEE61A51C072}" type="pres">
      <dgm:prSet presAssocID="{528B0079-FBF0-40F6-8344-3755C2C6A1F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F69E21CF-CFA3-4DC1-87F5-CC5E33682A8D}" type="pres">
      <dgm:prSet presAssocID="{528B0079-FBF0-40F6-8344-3755C2C6A1FE}" presName="spaceRect" presStyleCnt="0"/>
      <dgm:spPr/>
    </dgm:pt>
    <dgm:pt modelId="{67E4DCBD-2E48-4F1E-994F-D56C802C79E5}" type="pres">
      <dgm:prSet presAssocID="{528B0079-FBF0-40F6-8344-3755C2C6A1FE}" presName="parTx" presStyleLbl="revTx" presStyleIdx="0" presStyleCnt="5">
        <dgm:presLayoutVars>
          <dgm:chMax val="0"/>
          <dgm:chPref val="0"/>
        </dgm:presLayoutVars>
      </dgm:prSet>
      <dgm:spPr/>
    </dgm:pt>
    <dgm:pt modelId="{319AD815-34C6-4B88-88DA-F7B3A5C41A67}" type="pres">
      <dgm:prSet presAssocID="{43A56355-B2F5-45C4-AB02-8A461560B4CC}" presName="sibTrans" presStyleCnt="0"/>
      <dgm:spPr/>
    </dgm:pt>
    <dgm:pt modelId="{F6D0B19E-42CD-4145-A423-128681D57874}" type="pres">
      <dgm:prSet presAssocID="{6B812AD9-9F99-41E2-8D96-2462811B2C8D}" presName="compNode" presStyleCnt="0"/>
      <dgm:spPr/>
    </dgm:pt>
    <dgm:pt modelId="{EABC6CDE-4F9D-4133-BE23-2E372E816AFD}" type="pres">
      <dgm:prSet presAssocID="{6B812AD9-9F99-41E2-8D96-2462811B2C8D}" presName="bgRect" presStyleLbl="bgShp" presStyleIdx="1" presStyleCnt="5"/>
      <dgm:spPr/>
    </dgm:pt>
    <dgm:pt modelId="{DB9111B4-D698-4FCC-8A9F-E941F7A4D587}" type="pres">
      <dgm:prSet presAssocID="{6B812AD9-9F99-41E2-8D96-2462811B2C8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BD39EE14-9BD7-4BC9-BC83-6E8B42B8066D}" type="pres">
      <dgm:prSet presAssocID="{6B812AD9-9F99-41E2-8D96-2462811B2C8D}" presName="spaceRect" presStyleCnt="0"/>
      <dgm:spPr/>
    </dgm:pt>
    <dgm:pt modelId="{4A1D2820-503C-4773-B024-D064B23AC91A}" type="pres">
      <dgm:prSet presAssocID="{6B812AD9-9F99-41E2-8D96-2462811B2C8D}" presName="parTx" presStyleLbl="revTx" presStyleIdx="1" presStyleCnt="5">
        <dgm:presLayoutVars>
          <dgm:chMax val="0"/>
          <dgm:chPref val="0"/>
        </dgm:presLayoutVars>
      </dgm:prSet>
      <dgm:spPr/>
    </dgm:pt>
    <dgm:pt modelId="{FECD8B5A-A37B-46AA-AE08-98F5906CA914}" type="pres">
      <dgm:prSet presAssocID="{98979065-932A-470D-BE67-D7EC5B00D27C}" presName="sibTrans" presStyleCnt="0"/>
      <dgm:spPr/>
    </dgm:pt>
    <dgm:pt modelId="{65945BDE-2E06-4CF1-91DB-B858CB6684E3}" type="pres">
      <dgm:prSet presAssocID="{1A1C9077-C3F2-4AB3-8B69-A0A746612F12}" presName="compNode" presStyleCnt="0"/>
      <dgm:spPr/>
    </dgm:pt>
    <dgm:pt modelId="{86B45948-4A21-47C6-9905-3175BE5098EB}" type="pres">
      <dgm:prSet presAssocID="{1A1C9077-C3F2-4AB3-8B69-A0A746612F12}" presName="bgRect" presStyleLbl="bgShp" presStyleIdx="2" presStyleCnt="5"/>
      <dgm:spPr/>
    </dgm:pt>
    <dgm:pt modelId="{8159D443-9FBD-4689-A028-8E42D8645636}" type="pres">
      <dgm:prSet presAssocID="{1A1C9077-C3F2-4AB3-8B69-A0A746612F1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E7A87F8-27FE-40BA-817A-B2C9DD327ACD}" type="pres">
      <dgm:prSet presAssocID="{1A1C9077-C3F2-4AB3-8B69-A0A746612F12}" presName="spaceRect" presStyleCnt="0"/>
      <dgm:spPr/>
    </dgm:pt>
    <dgm:pt modelId="{888BBBEE-D84E-424C-A770-0021CF9C1B22}" type="pres">
      <dgm:prSet presAssocID="{1A1C9077-C3F2-4AB3-8B69-A0A746612F12}" presName="parTx" presStyleLbl="revTx" presStyleIdx="2" presStyleCnt="5">
        <dgm:presLayoutVars>
          <dgm:chMax val="0"/>
          <dgm:chPref val="0"/>
        </dgm:presLayoutVars>
      </dgm:prSet>
      <dgm:spPr/>
    </dgm:pt>
    <dgm:pt modelId="{F0C46B49-704C-4E13-B581-405A8AEAEBF5}" type="pres">
      <dgm:prSet presAssocID="{3403EABD-C656-4FB7-9C2E-AB07738ABD8D}" presName="sibTrans" presStyleCnt="0"/>
      <dgm:spPr/>
    </dgm:pt>
    <dgm:pt modelId="{5C210391-48D0-406E-9084-8B6CED2516E4}" type="pres">
      <dgm:prSet presAssocID="{55511DE3-376D-4FF0-A1BA-9B54598A47B5}" presName="compNode" presStyleCnt="0"/>
      <dgm:spPr/>
    </dgm:pt>
    <dgm:pt modelId="{5F6D1C3B-4CD6-418B-9C10-66DFA2476331}" type="pres">
      <dgm:prSet presAssocID="{55511DE3-376D-4FF0-A1BA-9B54598A47B5}" presName="bgRect" presStyleLbl="bgShp" presStyleIdx="3" presStyleCnt="5"/>
      <dgm:spPr/>
    </dgm:pt>
    <dgm:pt modelId="{4B36FC21-426E-44CD-97D7-01B0E5C9FB98}" type="pres">
      <dgm:prSet presAssocID="{55511DE3-376D-4FF0-A1BA-9B54598A47B5}" presName="iconRect" presStyleLbl="node1" presStyleIdx="3" presStyleCnt="5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4"/>
          <a:srcRect/>
          <a:stretch>
            <a:fillRect t="-1000" b="-1000"/>
          </a:stretch>
        </a:blipFill>
      </dgm:spPr>
    </dgm:pt>
    <dgm:pt modelId="{CB6B853B-113D-4A49-B0CF-A02E393AA007}" type="pres">
      <dgm:prSet presAssocID="{55511DE3-376D-4FF0-A1BA-9B54598A47B5}" presName="spaceRect" presStyleCnt="0"/>
      <dgm:spPr/>
    </dgm:pt>
    <dgm:pt modelId="{C48F48ED-7AFB-4516-A6FE-162EBA77F1F8}" type="pres">
      <dgm:prSet presAssocID="{55511DE3-376D-4FF0-A1BA-9B54598A47B5}" presName="parTx" presStyleLbl="revTx" presStyleIdx="3" presStyleCnt="5">
        <dgm:presLayoutVars>
          <dgm:chMax val="0"/>
          <dgm:chPref val="0"/>
        </dgm:presLayoutVars>
      </dgm:prSet>
      <dgm:spPr/>
    </dgm:pt>
    <dgm:pt modelId="{E52774C1-BC70-4C62-B49A-0E041006B381}" type="pres">
      <dgm:prSet presAssocID="{BE1BDB89-08C7-4A36-A866-9EF42D842EBB}" presName="sibTrans" presStyleCnt="0"/>
      <dgm:spPr/>
    </dgm:pt>
    <dgm:pt modelId="{2B86814B-3DB6-4C11-ABA0-A35D81D860E3}" type="pres">
      <dgm:prSet presAssocID="{D7EE4432-7E06-4FEB-A4BF-691FED646C60}" presName="compNode" presStyleCnt="0"/>
      <dgm:spPr/>
    </dgm:pt>
    <dgm:pt modelId="{39B09EAE-ED35-47F6-A986-55A8C7E776BF}" type="pres">
      <dgm:prSet presAssocID="{D7EE4432-7E06-4FEB-A4BF-691FED646C60}" presName="bgRect" presStyleLbl="bgShp" presStyleIdx="4" presStyleCnt="5"/>
      <dgm:spPr/>
    </dgm:pt>
    <dgm:pt modelId="{8359D874-958B-4DDA-B009-705843284C3E}" type="pres">
      <dgm:prSet presAssocID="{D7EE4432-7E06-4FEB-A4BF-691FED646C6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"/>
        </a:ext>
      </dgm:extLst>
    </dgm:pt>
    <dgm:pt modelId="{F96B3809-AA20-4572-860B-1CF1E00E41BB}" type="pres">
      <dgm:prSet presAssocID="{D7EE4432-7E06-4FEB-A4BF-691FED646C60}" presName="spaceRect" presStyleCnt="0"/>
      <dgm:spPr/>
    </dgm:pt>
    <dgm:pt modelId="{7B20F785-C49E-441D-8BED-6FBD0447FE7A}" type="pres">
      <dgm:prSet presAssocID="{D7EE4432-7E06-4FEB-A4BF-691FED646C6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7AC4B09-1FAD-479D-A261-05BB22B83198}" srcId="{4724E843-D408-40F6-A2A6-34B186DC0767}" destId="{D7EE4432-7E06-4FEB-A4BF-691FED646C60}" srcOrd="4" destOrd="0" parTransId="{C06E7172-6B6D-401B-8054-3B94FB279DE6}" sibTransId="{08B893E6-8C95-4102-8995-FE479E960BF8}"/>
    <dgm:cxn modelId="{CB32E90F-0265-471F-8FA5-9772675A7585}" type="presOf" srcId="{1A1C9077-C3F2-4AB3-8B69-A0A746612F12}" destId="{888BBBEE-D84E-424C-A770-0021CF9C1B22}" srcOrd="0" destOrd="0" presId="urn:microsoft.com/office/officeart/2018/2/layout/IconVerticalSolidList"/>
    <dgm:cxn modelId="{E409571B-B3EE-4217-82AC-A8D7697586DA}" type="presOf" srcId="{528B0079-FBF0-40F6-8344-3755C2C6A1FE}" destId="{67E4DCBD-2E48-4F1E-994F-D56C802C79E5}" srcOrd="0" destOrd="0" presId="urn:microsoft.com/office/officeart/2018/2/layout/IconVerticalSolidList"/>
    <dgm:cxn modelId="{B4FC161C-6B35-47B1-A70D-6EADAFE38EAD}" type="presOf" srcId="{D7EE4432-7E06-4FEB-A4BF-691FED646C60}" destId="{7B20F785-C49E-441D-8BED-6FBD0447FE7A}" srcOrd="0" destOrd="0" presId="urn:microsoft.com/office/officeart/2018/2/layout/IconVerticalSolidList"/>
    <dgm:cxn modelId="{28F5B135-5A82-4304-BBFB-D5DEF715F371}" srcId="{4724E843-D408-40F6-A2A6-34B186DC0767}" destId="{55511DE3-376D-4FF0-A1BA-9B54598A47B5}" srcOrd="3" destOrd="0" parTransId="{BAA9DD9A-2437-4DCF-BC62-2F76ACD271BE}" sibTransId="{BE1BDB89-08C7-4A36-A866-9EF42D842EBB}"/>
    <dgm:cxn modelId="{1749C346-EE81-430C-A79D-D9CB6F081DE5}" type="presOf" srcId="{55511DE3-376D-4FF0-A1BA-9B54598A47B5}" destId="{C48F48ED-7AFB-4516-A6FE-162EBA77F1F8}" srcOrd="0" destOrd="0" presId="urn:microsoft.com/office/officeart/2018/2/layout/IconVerticalSolidList"/>
    <dgm:cxn modelId="{C4BAC047-77A9-4CA8-8310-2C6078348A46}" srcId="{4724E843-D408-40F6-A2A6-34B186DC0767}" destId="{6B812AD9-9F99-41E2-8D96-2462811B2C8D}" srcOrd="1" destOrd="0" parTransId="{89090B90-C68D-4FCF-9D64-6CBC63B74F67}" sibTransId="{98979065-932A-470D-BE67-D7EC5B00D27C}"/>
    <dgm:cxn modelId="{A33C4794-D675-4136-AB71-F1EA7DEDF37D}" type="presOf" srcId="{6B812AD9-9F99-41E2-8D96-2462811B2C8D}" destId="{4A1D2820-503C-4773-B024-D064B23AC91A}" srcOrd="0" destOrd="0" presId="urn:microsoft.com/office/officeart/2018/2/layout/IconVerticalSolidList"/>
    <dgm:cxn modelId="{07060DD7-0CBF-46C0-949D-4F24782C8B24}" type="presOf" srcId="{4724E843-D408-40F6-A2A6-34B186DC0767}" destId="{001A0FB5-161E-4FEE-AD44-F57862A55A24}" srcOrd="0" destOrd="0" presId="urn:microsoft.com/office/officeart/2018/2/layout/IconVerticalSolidList"/>
    <dgm:cxn modelId="{A0ADF3DF-ACE2-454F-A4CF-1892B6C9006A}" srcId="{4724E843-D408-40F6-A2A6-34B186DC0767}" destId="{528B0079-FBF0-40F6-8344-3755C2C6A1FE}" srcOrd="0" destOrd="0" parTransId="{013FF602-37EE-46ED-9B2E-61FC94914220}" sibTransId="{43A56355-B2F5-45C4-AB02-8A461560B4CC}"/>
    <dgm:cxn modelId="{EAC054FE-F5C3-4593-B617-1C61DD53DA56}" srcId="{4724E843-D408-40F6-A2A6-34B186DC0767}" destId="{1A1C9077-C3F2-4AB3-8B69-A0A746612F12}" srcOrd="2" destOrd="0" parTransId="{10099EA9-40A5-408C-AA27-E8D843C6D9D8}" sibTransId="{3403EABD-C656-4FB7-9C2E-AB07738ABD8D}"/>
    <dgm:cxn modelId="{34336F2A-B52C-4C85-AD23-F4E05B6EC01A}" type="presParOf" srcId="{001A0FB5-161E-4FEE-AD44-F57862A55A24}" destId="{430D5A23-B6AA-44D8-8FFE-F4E9A5E36D1A}" srcOrd="0" destOrd="0" presId="urn:microsoft.com/office/officeart/2018/2/layout/IconVerticalSolidList"/>
    <dgm:cxn modelId="{06FB5439-5373-452B-91D8-AA4970F6AD52}" type="presParOf" srcId="{430D5A23-B6AA-44D8-8FFE-F4E9A5E36D1A}" destId="{7B53EB42-9C3F-4FB0-AFFE-74B79E62AFBC}" srcOrd="0" destOrd="0" presId="urn:microsoft.com/office/officeart/2018/2/layout/IconVerticalSolidList"/>
    <dgm:cxn modelId="{87474DEF-A313-471B-814F-7C13D15FC933}" type="presParOf" srcId="{430D5A23-B6AA-44D8-8FFE-F4E9A5E36D1A}" destId="{12D49780-5CC6-4D8B-BC53-DEE61A51C072}" srcOrd="1" destOrd="0" presId="urn:microsoft.com/office/officeart/2018/2/layout/IconVerticalSolidList"/>
    <dgm:cxn modelId="{5932B511-AD78-4D4B-91A0-00306199621C}" type="presParOf" srcId="{430D5A23-B6AA-44D8-8FFE-F4E9A5E36D1A}" destId="{F69E21CF-CFA3-4DC1-87F5-CC5E33682A8D}" srcOrd="2" destOrd="0" presId="urn:microsoft.com/office/officeart/2018/2/layout/IconVerticalSolidList"/>
    <dgm:cxn modelId="{C2EE3172-5174-489C-B00D-C022A7E734B0}" type="presParOf" srcId="{430D5A23-B6AA-44D8-8FFE-F4E9A5E36D1A}" destId="{67E4DCBD-2E48-4F1E-994F-D56C802C79E5}" srcOrd="3" destOrd="0" presId="urn:microsoft.com/office/officeart/2018/2/layout/IconVerticalSolidList"/>
    <dgm:cxn modelId="{1F6D6A65-41EA-4FD9-BD93-5E9813A07A13}" type="presParOf" srcId="{001A0FB5-161E-4FEE-AD44-F57862A55A24}" destId="{319AD815-34C6-4B88-88DA-F7B3A5C41A67}" srcOrd="1" destOrd="0" presId="urn:microsoft.com/office/officeart/2018/2/layout/IconVerticalSolidList"/>
    <dgm:cxn modelId="{AC013C32-D0B0-4551-8C45-2752746C25BB}" type="presParOf" srcId="{001A0FB5-161E-4FEE-AD44-F57862A55A24}" destId="{F6D0B19E-42CD-4145-A423-128681D57874}" srcOrd="2" destOrd="0" presId="urn:microsoft.com/office/officeart/2018/2/layout/IconVerticalSolidList"/>
    <dgm:cxn modelId="{E3451B3F-F7A9-420F-A91E-EA8B0F916933}" type="presParOf" srcId="{F6D0B19E-42CD-4145-A423-128681D57874}" destId="{EABC6CDE-4F9D-4133-BE23-2E372E816AFD}" srcOrd="0" destOrd="0" presId="urn:microsoft.com/office/officeart/2018/2/layout/IconVerticalSolidList"/>
    <dgm:cxn modelId="{DEFCDCCC-A234-41ED-85B0-0221AA376DFB}" type="presParOf" srcId="{F6D0B19E-42CD-4145-A423-128681D57874}" destId="{DB9111B4-D698-4FCC-8A9F-E941F7A4D587}" srcOrd="1" destOrd="0" presId="urn:microsoft.com/office/officeart/2018/2/layout/IconVerticalSolidList"/>
    <dgm:cxn modelId="{D2322DE5-AFE1-40DF-8415-2EC38B47CD1B}" type="presParOf" srcId="{F6D0B19E-42CD-4145-A423-128681D57874}" destId="{BD39EE14-9BD7-4BC9-BC83-6E8B42B8066D}" srcOrd="2" destOrd="0" presId="urn:microsoft.com/office/officeart/2018/2/layout/IconVerticalSolidList"/>
    <dgm:cxn modelId="{3E885888-61D2-49FD-AE91-3D14BA3F72BE}" type="presParOf" srcId="{F6D0B19E-42CD-4145-A423-128681D57874}" destId="{4A1D2820-503C-4773-B024-D064B23AC91A}" srcOrd="3" destOrd="0" presId="urn:microsoft.com/office/officeart/2018/2/layout/IconVerticalSolidList"/>
    <dgm:cxn modelId="{9EA66240-CCA4-4656-B445-25A30862E83F}" type="presParOf" srcId="{001A0FB5-161E-4FEE-AD44-F57862A55A24}" destId="{FECD8B5A-A37B-46AA-AE08-98F5906CA914}" srcOrd="3" destOrd="0" presId="urn:microsoft.com/office/officeart/2018/2/layout/IconVerticalSolidList"/>
    <dgm:cxn modelId="{CA59B9E0-7F96-4FD1-85C8-EF59C1009D46}" type="presParOf" srcId="{001A0FB5-161E-4FEE-AD44-F57862A55A24}" destId="{65945BDE-2E06-4CF1-91DB-B858CB6684E3}" srcOrd="4" destOrd="0" presId="urn:microsoft.com/office/officeart/2018/2/layout/IconVerticalSolidList"/>
    <dgm:cxn modelId="{95FD2511-FF78-4156-B13A-24FEE70DBF8D}" type="presParOf" srcId="{65945BDE-2E06-4CF1-91DB-B858CB6684E3}" destId="{86B45948-4A21-47C6-9905-3175BE5098EB}" srcOrd="0" destOrd="0" presId="urn:microsoft.com/office/officeart/2018/2/layout/IconVerticalSolidList"/>
    <dgm:cxn modelId="{05467E7D-4E44-4CFE-83A2-F8D2AC0EC838}" type="presParOf" srcId="{65945BDE-2E06-4CF1-91DB-B858CB6684E3}" destId="{8159D443-9FBD-4689-A028-8E42D8645636}" srcOrd="1" destOrd="0" presId="urn:microsoft.com/office/officeart/2018/2/layout/IconVerticalSolidList"/>
    <dgm:cxn modelId="{7F57BC6D-B94C-467D-A192-2B50A1B38320}" type="presParOf" srcId="{65945BDE-2E06-4CF1-91DB-B858CB6684E3}" destId="{AE7A87F8-27FE-40BA-817A-B2C9DD327ACD}" srcOrd="2" destOrd="0" presId="urn:microsoft.com/office/officeart/2018/2/layout/IconVerticalSolidList"/>
    <dgm:cxn modelId="{A1C3DE3A-01BA-4D59-BE3F-BC4BEE223EDB}" type="presParOf" srcId="{65945BDE-2E06-4CF1-91DB-B858CB6684E3}" destId="{888BBBEE-D84E-424C-A770-0021CF9C1B22}" srcOrd="3" destOrd="0" presId="urn:microsoft.com/office/officeart/2018/2/layout/IconVerticalSolidList"/>
    <dgm:cxn modelId="{1434D7C6-895D-46E8-A495-FD5DB3CE5C37}" type="presParOf" srcId="{001A0FB5-161E-4FEE-AD44-F57862A55A24}" destId="{F0C46B49-704C-4E13-B581-405A8AEAEBF5}" srcOrd="5" destOrd="0" presId="urn:microsoft.com/office/officeart/2018/2/layout/IconVerticalSolidList"/>
    <dgm:cxn modelId="{99EAD964-55EF-4D45-8191-52D30B7F665D}" type="presParOf" srcId="{001A0FB5-161E-4FEE-AD44-F57862A55A24}" destId="{5C210391-48D0-406E-9084-8B6CED2516E4}" srcOrd="6" destOrd="0" presId="urn:microsoft.com/office/officeart/2018/2/layout/IconVerticalSolidList"/>
    <dgm:cxn modelId="{F0728E66-4B6D-4AD2-B542-0CF85C3C13B4}" type="presParOf" srcId="{5C210391-48D0-406E-9084-8B6CED2516E4}" destId="{5F6D1C3B-4CD6-418B-9C10-66DFA2476331}" srcOrd="0" destOrd="0" presId="urn:microsoft.com/office/officeart/2018/2/layout/IconVerticalSolidList"/>
    <dgm:cxn modelId="{1B06DF25-8668-4391-96CB-27E1AE3E81D6}" type="presParOf" srcId="{5C210391-48D0-406E-9084-8B6CED2516E4}" destId="{4B36FC21-426E-44CD-97D7-01B0E5C9FB98}" srcOrd="1" destOrd="0" presId="urn:microsoft.com/office/officeart/2018/2/layout/IconVerticalSolidList"/>
    <dgm:cxn modelId="{1E80B506-D740-4F4A-B9C6-EA2A02AE9E45}" type="presParOf" srcId="{5C210391-48D0-406E-9084-8B6CED2516E4}" destId="{CB6B853B-113D-4A49-B0CF-A02E393AA007}" srcOrd="2" destOrd="0" presId="urn:microsoft.com/office/officeart/2018/2/layout/IconVerticalSolidList"/>
    <dgm:cxn modelId="{23D10DE0-C0B1-4AFD-8E31-F62245A3910C}" type="presParOf" srcId="{5C210391-48D0-406E-9084-8B6CED2516E4}" destId="{C48F48ED-7AFB-4516-A6FE-162EBA77F1F8}" srcOrd="3" destOrd="0" presId="urn:microsoft.com/office/officeart/2018/2/layout/IconVerticalSolidList"/>
    <dgm:cxn modelId="{5AA661CC-247D-4AD6-83C1-63D206A8AC1F}" type="presParOf" srcId="{001A0FB5-161E-4FEE-AD44-F57862A55A24}" destId="{E52774C1-BC70-4C62-B49A-0E041006B381}" srcOrd="7" destOrd="0" presId="urn:microsoft.com/office/officeart/2018/2/layout/IconVerticalSolidList"/>
    <dgm:cxn modelId="{3CC32214-ACED-46CD-86C6-D99FCA1B984B}" type="presParOf" srcId="{001A0FB5-161E-4FEE-AD44-F57862A55A24}" destId="{2B86814B-3DB6-4C11-ABA0-A35D81D860E3}" srcOrd="8" destOrd="0" presId="urn:microsoft.com/office/officeart/2018/2/layout/IconVerticalSolidList"/>
    <dgm:cxn modelId="{417EAF49-EE6D-4C6E-A186-9EAE840CD513}" type="presParOf" srcId="{2B86814B-3DB6-4C11-ABA0-A35D81D860E3}" destId="{39B09EAE-ED35-47F6-A986-55A8C7E776BF}" srcOrd="0" destOrd="0" presId="urn:microsoft.com/office/officeart/2018/2/layout/IconVerticalSolidList"/>
    <dgm:cxn modelId="{A4218B7F-E13F-499D-B570-7E8B3F90B2B3}" type="presParOf" srcId="{2B86814B-3DB6-4C11-ABA0-A35D81D860E3}" destId="{8359D874-958B-4DDA-B009-705843284C3E}" srcOrd="1" destOrd="0" presId="urn:microsoft.com/office/officeart/2018/2/layout/IconVerticalSolidList"/>
    <dgm:cxn modelId="{3B7CEA40-D5E5-40E1-8742-1FCAAA6FF876}" type="presParOf" srcId="{2B86814B-3DB6-4C11-ABA0-A35D81D860E3}" destId="{F96B3809-AA20-4572-860B-1CF1E00E41BB}" srcOrd="2" destOrd="0" presId="urn:microsoft.com/office/officeart/2018/2/layout/IconVerticalSolidList"/>
    <dgm:cxn modelId="{0F9A0221-839E-4F7C-BF7D-FE890BF2A41F}" type="presParOf" srcId="{2B86814B-3DB6-4C11-ABA0-A35D81D860E3}" destId="{7B20F785-C49E-441D-8BED-6FBD0447FE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3EB42-9C3F-4FB0-AFFE-74B79E62AFBC}">
      <dsp:nvSpPr>
        <dsp:cNvPr id="0" name=""/>
        <dsp:cNvSpPr/>
      </dsp:nvSpPr>
      <dsp:spPr>
        <a:xfrm>
          <a:off x="0" y="4163"/>
          <a:ext cx="11759381" cy="88679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D49780-5CC6-4D8B-BC53-DEE61A51C072}">
      <dsp:nvSpPr>
        <dsp:cNvPr id="0" name=""/>
        <dsp:cNvSpPr/>
      </dsp:nvSpPr>
      <dsp:spPr>
        <a:xfrm>
          <a:off x="268254" y="203691"/>
          <a:ext cx="487735" cy="4877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E4DCBD-2E48-4F1E-994F-D56C802C79E5}">
      <dsp:nvSpPr>
        <dsp:cNvPr id="0" name=""/>
        <dsp:cNvSpPr/>
      </dsp:nvSpPr>
      <dsp:spPr>
        <a:xfrm>
          <a:off x="1024245" y="4163"/>
          <a:ext cx="10735135" cy="886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2" tIns="93852" rIns="93852" bIns="93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📊 Smart cards were the most used transaction category, contributing the largest share of recorded transactions.</a:t>
          </a:r>
          <a:endParaRPr lang="en-US" sz="1900" kern="1200" dirty="0"/>
        </a:p>
      </dsp:txBody>
      <dsp:txXfrm>
        <a:off x="1024245" y="4163"/>
        <a:ext cx="10735135" cy="886792"/>
      </dsp:txXfrm>
    </dsp:sp>
    <dsp:sp modelId="{EABC6CDE-4F9D-4133-BE23-2E372E816AFD}">
      <dsp:nvSpPr>
        <dsp:cNvPr id="0" name=""/>
        <dsp:cNvSpPr/>
      </dsp:nvSpPr>
      <dsp:spPr>
        <a:xfrm>
          <a:off x="0" y="1112654"/>
          <a:ext cx="11759381" cy="88679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111B4-D698-4FCC-8A9F-E941F7A4D587}">
      <dsp:nvSpPr>
        <dsp:cNvPr id="0" name=""/>
        <dsp:cNvSpPr/>
      </dsp:nvSpPr>
      <dsp:spPr>
        <a:xfrm>
          <a:off x="268254" y="1312182"/>
          <a:ext cx="487735" cy="4877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D2820-503C-4773-B024-D064B23AC91A}">
      <dsp:nvSpPr>
        <dsp:cNvPr id="0" name=""/>
        <dsp:cNvSpPr/>
      </dsp:nvSpPr>
      <dsp:spPr>
        <a:xfrm>
          <a:off x="1024245" y="1112654"/>
          <a:ext cx="10735135" cy="886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2" tIns="93852" rIns="93852" bIns="93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🎟️ Tokens were the second-highest transaction category, showing strong usage of token-based ticketing.</a:t>
          </a:r>
          <a:endParaRPr lang="en-US" sz="1900" kern="1200"/>
        </a:p>
      </dsp:txBody>
      <dsp:txXfrm>
        <a:off x="1024245" y="1112654"/>
        <a:ext cx="10735135" cy="886792"/>
      </dsp:txXfrm>
    </dsp:sp>
    <dsp:sp modelId="{86B45948-4A21-47C6-9905-3175BE5098EB}">
      <dsp:nvSpPr>
        <dsp:cNvPr id="0" name=""/>
        <dsp:cNvSpPr/>
      </dsp:nvSpPr>
      <dsp:spPr>
        <a:xfrm>
          <a:off x="0" y="2221145"/>
          <a:ext cx="11759381" cy="88679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59D443-9FBD-4689-A028-8E42D8645636}">
      <dsp:nvSpPr>
        <dsp:cNvPr id="0" name=""/>
        <dsp:cNvSpPr/>
      </dsp:nvSpPr>
      <dsp:spPr>
        <a:xfrm>
          <a:off x="268254" y="2420673"/>
          <a:ext cx="487735" cy="4877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BBBEE-D84E-424C-A770-0021CF9C1B22}">
      <dsp:nvSpPr>
        <dsp:cNvPr id="0" name=""/>
        <dsp:cNvSpPr/>
      </dsp:nvSpPr>
      <dsp:spPr>
        <a:xfrm>
          <a:off x="1024245" y="2221145"/>
          <a:ext cx="10735135" cy="886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2" tIns="93852" rIns="93852" bIns="93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📱 QR transactions showed significant adoption, making QR an important digital ticketing channel.</a:t>
          </a:r>
          <a:endParaRPr lang="en-US" sz="1900" kern="1200" dirty="0"/>
        </a:p>
      </dsp:txBody>
      <dsp:txXfrm>
        <a:off x="1024245" y="2221145"/>
        <a:ext cx="10735135" cy="886792"/>
      </dsp:txXfrm>
    </dsp:sp>
    <dsp:sp modelId="{5F6D1C3B-4CD6-418B-9C10-66DFA2476331}">
      <dsp:nvSpPr>
        <dsp:cNvPr id="0" name=""/>
        <dsp:cNvSpPr/>
      </dsp:nvSpPr>
      <dsp:spPr>
        <a:xfrm>
          <a:off x="0" y="3329636"/>
          <a:ext cx="11759381" cy="88679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6FC21-426E-44CD-97D7-01B0E5C9FB98}">
      <dsp:nvSpPr>
        <dsp:cNvPr id="0" name=""/>
        <dsp:cNvSpPr/>
      </dsp:nvSpPr>
      <dsp:spPr>
        <a:xfrm>
          <a:off x="268254" y="3529164"/>
          <a:ext cx="487735" cy="487735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1000" b="-1000"/>
          </a:stretch>
        </a:blip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</dsp:sp>
    <dsp:sp modelId="{C48F48ED-7AFB-4516-A6FE-162EBA77F1F8}">
      <dsp:nvSpPr>
        <dsp:cNvPr id="0" name=""/>
        <dsp:cNvSpPr/>
      </dsp:nvSpPr>
      <dsp:spPr>
        <a:xfrm>
          <a:off x="1024245" y="3329636"/>
          <a:ext cx="10735135" cy="886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2" tIns="93852" rIns="93852" bIns="93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💬 WhatsApp was the leading QR channel, followed by </a:t>
          </a:r>
          <a:r>
            <a:rPr lang="en-US" sz="1900" b="1" kern="1200" dirty="0" err="1"/>
            <a:t>Namma</a:t>
          </a:r>
          <a:r>
            <a:rPr lang="en-US" sz="1900" b="1" kern="1200" dirty="0"/>
            <a:t> Metro and Paytm, while ONDC had the lowest QR usage.</a:t>
          </a:r>
          <a:endParaRPr lang="en-US" sz="1900" kern="1200" dirty="0"/>
        </a:p>
      </dsp:txBody>
      <dsp:txXfrm>
        <a:off x="1024245" y="3329636"/>
        <a:ext cx="10735135" cy="886792"/>
      </dsp:txXfrm>
    </dsp:sp>
    <dsp:sp modelId="{39B09EAE-ED35-47F6-A986-55A8C7E776BF}">
      <dsp:nvSpPr>
        <dsp:cNvPr id="0" name=""/>
        <dsp:cNvSpPr/>
      </dsp:nvSpPr>
      <dsp:spPr>
        <a:xfrm>
          <a:off x="0" y="4438126"/>
          <a:ext cx="11759381" cy="88679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9D874-958B-4DDA-B009-705843284C3E}">
      <dsp:nvSpPr>
        <dsp:cNvPr id="0" name=""/>
        <dsp:cNvSpPr/>
      </dsp:nvSpPr>
      <dsp:spPr>
        <a:xfrm>
          <a:off x="268254" y="4637655"/>
          <a:ext cx="487735" cy="4877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0F785-C49E-441D-8BED-6FBD0447FE7A}">
      <dsp:nvSpPr>
        <dsp:cNvPr id="0" name=""/>
        <dsp:cNvSpPr/>
      </dsp:nvSpPr>
      <dsp:spPr>
        <a:xfrm>
          <a:off x="1024245" y="4438126"/>
          <a:ext cx="10735135" cy="886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852" tIns="93852" rIns="93852" bIns="938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🚇 Transaction activity reached its highest daily level on 14 August 2026, indicating a strong peak in overall metro transactions.</a:t>
          </a:r>
          <a:endParaRPr lang="en-US" sz="1900" kern="1200" dirty="0"/>
        </a:p>
      </dsp:txBody>
      <dsp:txXfrm>
        <a:off x="1024245" y="4438126"/>
        <a:ext cx="10735135" cy="8867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A3AC-7F35-B7BD-FC76-3454CEAD4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9DA87-C464-461A-BC30-8D3ABA562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7684-50AD-5A95-1AE8-93013FC5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961D8-A909-F7E0-2BB0-209BE6C3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ACC75-ACFB-ABE4-058A-DAF91F3A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32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BDDB2-1982-BAF0-905B-A1A0A811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2FAF-AAC9-6471-F537-1E4D0D2B1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CC89E-9BA0-6D94-F418-4E490DF6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983F6-719B-1DD0-84F0-EB0DD602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14BF4-DD40-BF5C-20FF-F6DD2DFA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18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6024-8E98-5124-985C-E0400803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E2D7-01C3-348F-0B86-B7C527C8D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1B1E3-303C-F3B2-B920-29EB9CD4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E016-4F37-8D9F-B472-7B7C93D2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D6E42-8CE3-2DBF-333A-A1E475AE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3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54B6B-3812-059E-8296-A9CF3AF5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2E571-C33E-4739-BE03-E10F18609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03194-6698-6556-0454-73B811907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527EF-56CD-85BC-C439-80580D75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9BA82-9AE0-0E5A-A1BD-6783D18D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DFABC-746F-4CF6-1DE9-A2BA3A4A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28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790D-1DD3-AD89-DE51-BB7A8D2F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BEC8-4DCB-9945-8540-B7A69D9A4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62B23-1859-627B-B63F-4814DD1E0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1C52F-C91D-7967-5F4E-A3D7EF56D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AFE11-7C0F-066D-4C59-5A171CB4D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CE9730-2B83-90AA-F41D-9C251FC4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BECA2-6FA9-E04E-D1FF-C166933B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34476-0B6E-02D6-C89A-A82E3401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6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9247-582C-90B5-B9C5-57B9D68D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9EA02-00DD-9A1F-649D-C6DFBB67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D1CC1-66D8-C7C2-CF73-00DDC749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729DB-8290-A125-ED9E-C0FBDA7E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31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38A3B-BAF4-6909-8D50-594F77EF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7DDA41-6F3F-052B-A03F-6FDE79DCA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39116-F9CD-8F23-706B-1616AD33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6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C6DB-DF01-15E3-EC66-D9561D73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6D5F-42AF-4303-38E5-42A6DCD27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32490-2C43-2A5A-D09F-66F9A4BAB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1D882-F5C1-2B86-7BFA-C6E52B296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4CD71-6792-25F9-FFB5-88E8BF45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06F24-F9B5-0B66-496C-9AE23E99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555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57B9C-9965-3637-7A68-0C7AB0CB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B23EE-66CC-F4CD-6D59-F564034E9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ABAF6-F90B-4558-B708-A8DCD9E38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0058D-04B3-639B-2EA1-05A65054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7EE0E-610F-9D3D-DE0C-C5F09BCB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C66A7-5428-F773-CF0E-EE6D2B1D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52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66E20-D47F-882D-0000-1FAA3C12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C6459-8C3C-DEDA-EBA9-7B78BB23E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3C9-E67F-EA57-00CD-D3442B63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F0D87-4EF4-0180-32B2-E3E81D02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F1D98-55B0-3708-F7BC-4979AE19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42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C7330-F6D0-8BE2-3F9E-45AE214A0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4FC62-E488-71C7-37B8-892893186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E7EFA-C346-6D82-C105-77A09CC4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E35EC-77B1-AFCB-8F45-20BB0B11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E3869-0126-280D-D308-B6ABFF02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60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0C2CC-3BBD-08AF-2B6D-6E704FE36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FAEE5-190F-77AD-BA75-123698FCF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2E072-D212-6F91-A449-C5481329C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7C7C3-EA99-4CB3-B139-65C83CB8F4CE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A06DA-0A39-EAD6-088B-BC68ABC91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1ACFF-89ED-D88D-2A98-272EA9FE8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E4F83-0D86-4E70-971C-08F9E30CF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98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-2374900" sx="100000" sy="100000" flip="y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DA25-C6DD-8071-F63A-987A45E37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761" y="1122363"/>
            <a:ext cx="10009239" cy="2387600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METROPULSE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8AEED-1909-6F9C-38FF-4ACEAAB8A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761" y="3664309"/>
            <a:ext cx="10009239" cy="2041678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2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Bengaluru Metro Ticketing &amp; Transaction Analytics</a:t>
            </a:r>
          </a:p>
          <a:p>
            <a:endParaRPr lang="en-US" sz="1800" b="1" dirty="0"/>
          </a:p>
          <a:p>
            <a:pPr algn="l"/>
            <a:r>
              <a:rPr lang="en-US" sz="1800" b="1" dirty="0">
                <a:solidFill>
                  <a:srgbClr val="23BEB4"/>
                </a:solidFill>
              </a:rPr>
              <a:t>SQL Data Analyst Project | 2024–2026</a:t>
            </a:r>
          </a:p>
          <a:p>
            <a:pPr algn="l"/>
            <a:endParaRPr lang="en-US" sz="1200" b="1" dirty="0">
              <a:solidFill>
                <a:schemeClr val="bg2"/>
              </a:solidFill>
            </a:endParaRPr>
          </a:p>
          <a:p>
            <a:pPr algn="l"/>
            <a:r>
              <a:rPr lang="en-US" sz="1200" b="1" dirty="0">
                <a:solidFill>
                  <a:schemeClr val="bg2"/>
                </a:solidFill>
              </a:rPr>
              <a:t>Prepared by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</a:rPr>
              <a:t>Nivedita Malik</a:t>
            </a:r>
            <a:endParaRPr lang="en-IN" sz="1400" b="1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4D141C-0869-865D-589B-20C910FC3DE6}"/>
              </a:ext>
            </a:extLst>
          </p:cNvPr>
          <p:cNvCxnSpPr>
            <a:cxnSpLocks/>
          </p:cNvCxnSpPr>
          <p:nvPr/>
        </p:nvCxnSpPr>
        <p:spPr>
          <a:xfrm>
            <a:off x="781071" y="3533148"/>
            <a:ext cx="3951703" cy="0"/>
          </a:xfrm>
          <a:prstGeom prst="line">
            <a:avLst/>
          </a:prstGeom>
          <a:ln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F452411-2796-EE95-949F-AF416069FB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7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40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D0A88-774C-720E-A2A9-E0234275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69" y="601963"/>
            <a:ext cx="4661841" cy="16802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PROJECT </a:t>
            </a:r>
            <a:r>
              <a:rPr lang="en-US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OVERVIEW</a:t>
            </a:r>
          </a:p>
        </p:txBody>
      </p:sp>
      <p:sp>
        <p:nvSpPr>
          <p:cNvPr id="6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09505-3EEB-30E5-2C34-0BB96B891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6" y="2910078"/>
            <a:ext cx="5242876" cy="3752855"/>
          </a:xfrm>
        </p:spPr>
        <p:txBody>
          <a:bodyPr vert="horz" lIns="91440" tIns="45720" rIns="91440" bIns="45720" rtlCol="0">
            <a:no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/>
              <a:t>        </a:t>
            </a:r>
            <a:r>
              <a:rPr lang="en-US" sz="1800" b="1" dirty="0" err="1"/>
              <a:t>MetroPulse</a:t>
            </a:r>
            <a:r>
              <a:rPr lang="en-US" sz="1800" dirty="0"/>
              <a:t> is a SQL-based metro transaction analytics project designed to analyze daily ticketing and payment transactions across multiple channels.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     The project uses transaction data from </a:t>
            </a:r>
            <a:r>
              <a:rPr lang="en-US" sz="1800" b="1" dirty="0"/>
              <a:t>October 2024 to August 2026 </a:t>
            </a:r>
            <a:r>
              <a:rPr lang="en-US" sz="1800" dirty="0"/>
              <a:t>and organizes the data into related tables covering smart cards, passes, tickets, QR transactions, QR channels, dates, and daily summaries.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     The analysis focuses on identifying transaction patterns, comparing payment channels, understanding daily and yearly trends, and generating meaningful business insights using SQL.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2EC2DB57-9EF3-6A3F-8CA3-FC3B99287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7" r="19073"/>
          <a:stretch>
            <a:fillRect/>
          </a:stretch>
        </p:blipFill>
        <p:spPr>
          <a:xfrm>
            <a:off x="5486488" y="0"/>
            <a:ext cx="6720263" cy="682142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effectLst>
            <a:outerShdw blurRad="50800" dist="50800" dir="5400000" algn="ctr" rotWithShape="0">
              <a:schemeClr val="accent5"/>
            </a:outerShdw>
          </a:effectLst>
        </p:spPr>
      </p:pic>
      <p:pic>
        <p:nvPicPr>
          <p:cNvPr id="29" name="Graphic 28" descr="Bar chart with solid fill">
            <a:extLst>
              <a:ext uri="{FF2B5EF4-FFF2-40B4-BE49-F238E27FC236}">
                <a16:creationId xmlns:a16="http://schemas.microsoft.com/office/drawing/2014/main" id="{B613DF0A-9A05-C50E-5962-7A12AF41F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007" y="2833958"/>
            <a:ext cx="580067" cy="399204"/>
          </a:xfrm>
          <a:prstGeom prst="rect">
            <a:avLst/>
          </a:prstGeom>
        </p:spPr>
      </p:pic>
      <p:pic>
        <p:nvPicPr>
          <p:cNvPr id="31" name="Graphic 30" descr="Briefcase with solid fill">
            <a:extLst>
              <a:ext uri="{FF2B5EF4-FFF2-40B4-BE49-F238E27FC236}">
                <a16:creationId xmlns:a16="http://schemas.microsoft.com/office/drawing/2014/main" id="{5DE0C013-0DAE-85E9-ADA4-14AF3D8952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869" y="4008186"/>
            <a:ext cx="367862" cy="301055"/>
          </a:xfrm>
          <a:prstGeom prst="rect">
            <a:avLst/>
          </a:prstGeom>
        </p:spPr>
      </p:pic>
      <p:pic>
        <p:nvPicPr>
          <p:cNvPr id="35" name="Graphic 34" descr="Lightbulb with solid fill">
            <a:extLst>
              <a:ext uri="{FF2B5EF4-FFF2-40B4-BE49-F238E27FC236}">
                <a16:creationId xmlns:a16="http://schemas.microsoft.com/office/drawing/2014/main" id="{736B1BC6-8D5C-B87B-1E47-41DE6C9E8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007" y="5364832"/>
            <a:ext cx="461550" cy="30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78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7CCC-1318-C6F5-642F-CEFB610F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201561"/>
            <a:ext cx="11484078" cy="11061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DATABASE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STRUCTURE</a:t>
            </a:r>
            <a:b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IN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</a:t>
            </a:r>
            <a:r>
              <a:rPr lang="en-IN" sz="1800" b="1" dirty="0"/>
              <a:t>ER Diagram of </a:t>
            </a:r>
            <a:r>
              <a:rPr lang="en-IN" sz="1800" b="1" dirty="0" err="1"/>
              <a:t>MetroPluse</a:t>
            </a:r>
            <a:r>
              <a:rPr lang="en-IN" sz="1800" b="1" dirty="0"/>
              <a:t> Database (8 Tables)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7E14CE-E653-D3AB-AE5C-93D40DABAAC9}"/>
              </a:ext>
            </a:extLst>
          </p:cNvPr>
          <p:cNvCxnSpPr>
            <a:cxnSpLocks/>
          </p:cNvCxnSpPr>
          <p:nvPr/>
        </p:nvCxnSpPr>
        <p:spPr>
          <a:xfrm>
            <a:off x="353961" y="833283"/>
            <a:ext cx="2684207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1FB13A6-F910-E635-1617-A3ADEF38A8B6}"/>
              </a:ext>
            </a:extLst>
          </p:cNvPr>
          <p:cNvSpPr/>
          <p:nvPr/>
        </p:nvSpPr>
        <p:spPr>
          <a:xfrm flipH="1" flipV="1">
            <a:off x="3038167" y="771442"/>
            <a:ext cx="196645" cy="141435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Graphic 14" descr="Cause And Effect with solid fill">
            <a:extLst>
              <a:ext uri="{FF2B5EF4-FFF2-40B4-BE49-F238E27FC236}">
                <a16:creationId xmlns:a16="http://schemas.microsoft.com/office/drawing/2014/main" id="{5B1F2E3A-4820-AB0C-4C91-58895A942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704" y="913415"/>
            <a:ext cx="636640" cy="351010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9784DD2D-F3AC-A048-7400-54C5EBC3F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657" y="1622323"/>
            <a:ext cx="5742259" cy="50341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C916978-8B1D-ECA9-0974-A27C974CA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721" y="1927123"/>
            <a:ext cx="599547" cy="457491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4BEC19-0688-E1ED-D7CC-75D81F1C0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790693"/>
              </p:ext>
            </p:extLst>
          </p:nvPr>
        </p:nvGraphicFramePr>
        <p:xfrm>
          <a:off x="147206" y="1622323"/>
          <a:ext cx="5427684" cy="4963453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68280">
                  <a:extLst>
                    <a:ext uri="{9D8B030D-6E8A-4147-A177-3AD203B41FA5}">
                      <a16:colId xmlns:a16="http://schemas.microsoft.com/office/drawing/2014/main" val="3833920866"/>
                    </a:ext>
                  </a:extLst>
                </a:gridCol>
                <a:gridCol w="693490">
                  <a:extLst>
                    <a:ext uri="{9D8B030D-6E8A-4147-A177-3AD203B41FA5}">
                      <a16:colId xmlns:a16="http://schemas.microsoft.com/office/drawing/2014/main" val="4038585467"/>
                    </a:ext>
                  </a:extLst>
                </a:gridCol>
                <a:gridCol w="2065914">
                  <a:extLst>
                    <a:ext uri="{9D8B030D-6E8A-4147-A177-3AD203B41FA5}">
                      <a16:colId xmlns:a16="http://schemas.microsoft.com/office/drawing/2014/main" val="3004093456"/>
                    </a:ext>
                  </a:extLst>
                </a:gridCol>
              </a:tblGrid>
              <a:tr h="63784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Core Relationship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Foreign Key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6053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Dates → Smart Card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record_date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150426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Dates → Pass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record_date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862027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Dates → Ticket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record_date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665745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Dates → QR 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record_date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64967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Dates → QR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record_date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4290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QR Channel Types → QR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channel_type_id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871746"/>
                  </a:ext>
                </a:extLst>
              </a:tr>
              <a:tr h="5884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Dates → Daily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record_date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11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89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DBEE-733D-44A6-B1E1-3C1DC678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206478"/>
            <a:ext cx="11857703" cy="718314"/>
          </a:xfrm>
        </p:spPr>
        <p:txBody>
          <a:bodyPr/>
          <a:lstStyle/>
          <a:p>
            <a:r>
              <a:rPr lang="en-IN" b="1" dirty="0"/>
              <a:t>CREATE</a:t>
            </a:r>
            <a:r>
              <a:rPr lang="en-IN" b="1" i="1" dirty="0"/>
              <a:t>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TABLES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F1D4A349-EA60-DBA8-7DA9-A498CDEA33A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277792" y="1049489"/>
            <a:ext cx="11717558" cy="56020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1.</a:t>
            </a:r>
            <a:r>
              <a:rPr lang="en-US" sz="2400" b="1" dirty="0"/>
              <a:t>Create dates                                                           </a:t>
            </a:r>
          </a:p>
          <a:p>
            <a:pPr marL="0" indent="0">
              <a:buNone/>
            </a:pPr>
            <a:r>
              <a:rPr lang="en-US" sz="2400" b="1" dirty="0"/>
              <a:t>CREATE TABLE dates</a:t>
            </a:r>
          </a:p>
          <a:p>
            <a:pPr marL="0" indent="0">
              <a:buNone/>
            </a:pPr>
            <a:r>
              <a:rPr lang="en-US" sz="2400" b="1" dirty="0"/>
              <a:t> (</a:t>
            </a:r>
            <a:r>
              <a:rPr lang="en-US" sz="2400" b="1" dirty="0" err="1"/>
              <a:t>record_date</a:t>
            </a:r>
            <a:r>
              <a:rPr lang="en-US" sz="2400" b="1" dirty="0"/>
              <a:t> DATE PRIMARY KEY,   </a:t>
            </a:r>
          </a:p>
          <a:p>
            <a:pPr marL="0" indent="0">
              <a:buNone/>
            </a:pPr>
            <a:r>
              <a:rPr lang="en-US" sz="2400" b="1" dirty="0"/>
              <a:t> day INT,    month INT,    year INT,  </a:t>
            </a:r>
          </a:p>
          <a:p>
            <a:pPr marL="0" indent="0">
              <a:buNone/>
            </a:pPr>
            <a:r>
              <a:rPr lang="en-US" sz="2400" b="1" dirty="0"/>
              <a:t>  </a:t>
            </a:r>
            <a:r>
              <a:rPr lang="en-US" sz="2400" b="1" dirty="0" err="1"/>
              <a:t>day_name</a:t>
            </a:r>
            <a:r>
              <a:rPr lang="en-US" sz="2400" b="1" dirty="0"/>
              <a:t> VARCHAR(10));</a:t>
            </a: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IN" sz="2400" b="1" dirty="0"/>
              <a:t>2. </a:t>
            </a:r>
            <a:r>
              <a:rPr lang="en-US" sz="2400" b="1" dirty="0"/>
              <a:t>Create </a:t>
            </a:r>
            <a:r>
              <a:rPr lang="en-US" sz="2400" b="1" dirty="0" err="1"/>
              <a:t>smart_card_transactions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CREATE TABLE </a:t>
            </a:r>
            <a:r>
              <a:rPr lang="en-US" sz="2400" b="1" dirty="0" err="1"/>
              <a:t>smart_card_transactions</a:t>
            </a:r>
            <a:r>
              <a:rPr lang="en-US" sz="2400" b="1" dirty="0"/>
              <a:t> (  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err="1"/>
              <a:t>smart_card_id</a:t>
            </a:r>
            <a:r>
              <a:rPr lang="en-US" sz="2400" b="1" dirty="0"/>
              <a:t> INT AUTO_INCREMENT PRIMARY KEY, 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err="1"/>
              <a:t>record_date</a:t>
            </a:r>
            <a:r>
              <a:rPr lang="en-US" sz="2400" b="1" dirty="0"/>
              <a:t> DATE,  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b="1" dirty="0" err="1"/>
              <a:t>total_smart_cards</a:t>
            </a:r>
            <a:r>
              <a:rPr lang="en-US" sz="2400" b="1" dirty="0"/>
              <a:t> INT,    </a:t>
            </a:r>
          </a:p>
          <a:p>
            <a:pPr marL="0" indent="0">
              <a:buNone/>
            </a:pPr>
            <a:r>
              <a:rPr lang="en-US" sz="2400" b="1" dirty="0" err="1"/>
              <a:t>stored_value_card</a:t>
            </a:r>
            <a:r>
              <a:rPr lang="en-US" sz="2400" b="1" dirty="0"/>
              <a:t> INT,    </a:t>
            </a:r>
          </a:p>
          <a:p>
            <a:pPr marL="0" indent="0">
              <a:buNone/>
            </a:pPr>
            <a:r>
              <a:rPr lang="en-US" sz="2400" b="1" dirty="0"/>
              <a:t>FOREIGN KEY (</a:t>
            </a:r>
            <a:r>
              <a:rPr lang="en-US" sz="2400" b="1" dirty="0" err="1"/>
              <a:t>record_date</a:t>
            </a:r>
            <a:r>
              <a:rPr lang="en-US" sz="2400" b="1" dirty="0"/>
              <a:t>)     </a:t>
            </a:r>
          </a:p>
          <a:p>
            <a:pPr marL="0" indent="0">
              <a:buNone/>
            </a:pPr>
            <a:r>
              <a:rPr lang="en-US" sz="2400" b="1" dirty="0"/>
              <a:t> REFERENCES dates(</a:t>
            </a:r>
            <a:r>
              <a:rPr lang="en-US" sz="2400" b="1" dirty="0" err="1"/>
              <a:t>record_date</a:t>
            </a:r>
            <a:r>
              <a:rPr lang="en-US" sz="2400" b="1" dirty="0"/>
              <a:t>));</a:t>
            </a:r>
            <a:endParaRPr lang="en-IN" sz="2400" b="1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3689743-76BC-6134-1443-5CDE73F312FE}"/>
              </a:ext>
            </a:extLst>
          </p:cNvPr>
          <p:cNvCxnSpPr>
            <a:cxnSpLocks/>
          </p:cNvCxnSpPr>
          <p:nvPr/>
        </p:nvCxnSpPr>
        <p:spPr>
          <a:xfrm>
            <a:off x="237221" y="3221526"/>
            <a:ext cx="117175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40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6548C-762C-0B3C-C667-D2BBB740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E69E-F431-CB7B-2403-A1786138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206478"/>
            <a:ext cx="11857703" cy="66635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CREATE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TABLES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BFA126FD-BAD3-0E03-D77D-98BCBA9032CB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277792" y="966357"/>
            <a:ext cx="11717558" cy="56851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/>
              <a:t>3. Create </a:t>
            </a:r>
            <a:r>
              <a:rPr lang="en-US" sz="2400" b="1" dirty="0" err="1"/>
              <a:t>pass_transactions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CREATE TABLE </a:t>
            </a:r>
            <a:r>
              <a:rPr lang="en-US" sz="2400" b="1" dirty="0" err="1"/>
              <a:t>pass_transactions</a:t>
            </a:r>
            <a:r>
              <a:rPr lang="en-US" sz="2400" b="1" dirty="0"/>
              <a:t> ( </a:t>
            </a:r>
          </a:p>
          <a:p>
            <a:pPr marL="0" indent="0">
              <a:buNone/>
            </a:pPr>
            <a:r>
              <a:rPr lang="en-US" sz="2400" b="1" dirty="0" err="1"/>
              <a:t>pass_id</a:t>
            </a:r>
            <a:r>
              <a:rPr lang="en-US" sz="2400" b="1" dirty="0"/>
              <a:t> INT AUTO_INCREMENT PRIMARY KEY,    </a:t>
            </a:r>
          </a:p>
          <a:p>
            <a:pPr marL="0" indent="0">
              <a:buNone/>
            </a:pPr>
            <a:r>
              <a:rPr lang="en-US" sz="2400" b="1" dirty="0" err="1"/>
              <a:t>record_date</a:t>
            </a:r>
            <a:r>
              <a:rPr lang="en-US" sz="2400" b="1" dirty="0"/>
              <a:t> DATE,    </a:t>
            </a:r>
            <a:r>
              <a:rPr lang="en-US" sz="2400" b="1" dirty="0" err="1"/>
              <a:t>one_day_pass</a:t>
            </a:r>
            <a:r>
              <a:rPr lang="en-US" sz="2400" b="1" dirty="0"/>
              <a:t> INT,    </a:t>
            </a:r>
          </a:p>
          <a:p>
            <a:pPr marL="0" indent="0">
              <a:buNone/>
            </a:pPr>
            <a:r>
              <a:rPr lang="en-US" sz="2400" b="1" dirty="0" err="1"/>
              <a:t>three_day_pass</a:t>
            </a:r>
            <a:r>
              <a:rPr lang="en-US" sz="2400" b="1" dirty="0"/>
              <a:t> INT,    </a:t>
            </a:r>
            <a:r>
              <a:rPr lang="en-US" sz="2400" b="1" dirty="0" err="1"/>
              <a:t>five_day_pass</a:t>
            </a:r>
            <a:r>
              <a:rPr lang="en-US" sz="2400" b="1" dirty="0"/>
              <a:t> INT,    </a:t>
            </a:r>
          </a:p>
          <a:p>
            <a:pPr marL="0" indent="0">
              <a:buNone/>
            </a:pPr>
            <a:r>
              <a:rPr lang="en-US" sz="2400" b="1" dirty="0"/>
              <a:t>FOREIGN KEY (</a:t>
            </a:r>
            <a:r>
              <a:rPr lang="en-US" sz="2400" b="1" dirty="0" err="1"/>
              <a:t>record_date</a:t>
            </a:r>
            <a:r>
              <a:rPr lang="en-US" sz="2400" b="1" dirty="0"/>
              <a:t>)        </a:t>
            </a:r>
          </a:p>
          <a:p>
            <a:pPr marL="0" indent="0">
              <a:buNone/>
            </a:pPr>
            <a:r>
              <a:rPr lang="en-US" sz="2400" b="1" dirty="0"/>
              <a:t>REFERENCES dates(</a:t>
            </a:r>
            <a:r>
              <a:rPr lang="en-US" sz="2400" b="1" dirty="0" err="1"/>
              <a:t>record_date</a:t>
            </a:r>
            <a:r>
              <a:rPr lang="en-US" sz="2400" b="1" dirty="0"/>
              <a:t>));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4. </a:t>
            </a:r>
            <a:r>
              <a:rPr lang="en-US" sz="2600" b="1" dirty="0"/>
              <a:t>Create </a:t>
            </a:r>
            <a:r>
              <a:rPr lang="en-US" sz="2600" b="1" dirty="0" err="1"/>
              <a:t>ticket_transactions</a:t>
            </a:r>
            <a:endParaRPr lang="en-US" sz="2600" b="1" dirty="0"/>
          </a:p>
          <a:p>
            <a:pPr marL="0" indent="0">
              <a:buNone/>
            </a:pPr>
            <a:r>
              <a:rPr lang="en-US" sz="2400" b="1" dirty="0"/>
              <a:t>CREATE TABLE </a:t>
            </a:r>
            <a:r>
              <a:rPr lang="en-US" sz="2400" b="1" dirty="0" err="1"/>
              <a:t>ticket_transactions</a:t>
            </a:r>
            <a:r>
              <a:rPr lang="en-US" sz="2400" b="1" dirty="0"/>
              <a:t> (    </a:t>
            </a:r>
          </a:p>
          <a:p>
            <a:pPr marL="0" indent="0">
              <a:buNone/>
            </a:pPr>
            <a:r>
              <a:rPr lang="en-US" sz="2400" b="1" dirty="0" err="1"/>
              <a:t>ticket_id</a:t>
            </a:r>
            <a:r>
              <a:rPr lang="en-US" sz="2400" b="1" dirty="0"/>
              <a:t> INT AUTO_INCREMENT PRIMARY KEY,    </a:t>
            </a:r>
          </a:p>
          <a:p>
            <a:pPr marL="0" indent="0">
              <a:buNone/>
            </a:pPr>
            <a:r>
              <a:rPr lang="en-US" sz="2400" b="1" dirty="0" err="1"/>
              <a:t>record_date</a:t>
            </a:r>
            <a:r>
              <a:rPr lang="en-US" sz="2400" b="1" dirty="0"/>
              <a:t> DATE,    </a:t>
            </a:r>
          </a:p>
          <a:p>
            <a:pPr marL="0" indent="0">
              <a:buNone/>
            </a:pPr>
            <a:r>
              <a:rPr lang="en-US" sz="2400" b="1" dirty="0" err="1"/>
              <a:t>total_tokens</a:t>
            </a:r>
            <a:r>
              <a:rPr lang="en-US" sz="2400" b="1" dirty="0"/>
              <a:t> INT,    </a:t>
            </a:r>
          </a:p>
          <a:p>
            <a:pPr marL="0" indent="0">
              <a:buNone/>
            </a:pPr>
            <a:r>
              <a:rPr lang="en-US" sz="2400" b="1" dirty="0" err="1"/>
              <a:t>total_ncmc</a:t>
            </a:r>
            <a:r>
              <a:rPr lang="en-US" sz="2400" b="1" dirty="0"/>
              <a:t> INT,    </a:t>
            </a:r>
            <a:r>
              <a:rPr lang="en-US" sz="2400" b="1" dirty="0" err="1"/>
              <a:t>group_ticket</a:t>
            </a:r>
            <a:r>
              <a:rPr lang="en-US" sz="2400" b="1" dirty="0"/>
              <a:t> INT,    </a:t>
            </a:r>
          </a:p>
          <a:p>
            <a:pPr marL="0" indent="0">
              <a:buNone/>
            </a:pPr>
            <a:r>
              <a:rPr lang="en-US" sz="2400" b="1" dirty="0"/>
              <a:t>FOREIGN KEY (</a:t>
            </a:r>
            <a:r>
              <a:rPr lang="en-US" sz="2400" b="1" dirty="0" err="1"/>
              <a:t>record_date</a:t>
            </a:r>
            <a:r>
              <a:rPr lang="en-US" sz="2400" b="1" dirty="0"/>
              <a:t>)        </a:t>
            </a:r>
          </a:p>
          <a:p>
            <a:pPr marL="0" indent="0">
              <a:buNone/>
            </a:pPr>
            <a:r>
              <a:rPr lang="en-US" sz="2400" b="1" dirty="0"/>
              <a:t>REFERENCES dates(</a:t>
            </a:r>
            <a:r>
              <a:rPr lang="en-US" sz="2400" b="1" dirty="0" err="1"/>
              <a:t>record_date</a:t>
            </a:r>
            <a:r>
              <a:rPr lang="en-US" sz="2400" b="1" dirty="0"/>
              <a:t>));</a:t>
            </a:r>
            <a:endParaRPr lang="en-IN" sz="2400" b="1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9F34F4-0B82-04BA-29DB-960B8834349D}"/>
              </a:ext>
            </a:extLst>
          </p:cNvPr>
          <p:cNvCxnSpPr>
            <a:cxnSpLocks/>
          </p:cNvCxnSpPr>
          <p:nvPr/>
        </p:nvCxnSpPr>
        <p:spPr>
          <a:xfrm>
            <a:off x="237221" y="3513924"/>
            <a:ext cx="117175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093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1CD75-07BC-3104-B141-CF3B5A52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780D-C3B1-AB55-7BD3-D2A0F7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206477"/>
            <a:ext cx="11857703" cy="1081549"/>
          </a:xfrm>
        </p:spPr>
        <p:txBody>
          <a:bodyPr/>
          <a:lstStyle/>
          <a:p>
            <a:r>
              <a:rPr lang="en-IN" b="1" dirty="0"/>
              <a:t>TABLE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STRUCTURE</a:t>
            </a:r>
            <a:br>
              <a:rPr lang="en-IN" dirty="0"/>
            </a:br>
            <a:r>
              <a:rPr lang="en-IN" sz="2000" i="1" dirty="0"/>
              <a:t>        MySQL Table Definitions Using DESC Command</a:t>
            </a:r>
            <a:endParaRPr lang="en-IN" i="1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2ACFB45-BC2A-705E-13F0-CDBF09DCFDAD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277792" y="1377387"/>
            <a:ext cx="11717558" cy="527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1. DESC dates;                                                             2. DESC </a:t>
            </a:r>
            <a:r>
              <a:rPr lang="en-IN" sz="2400" b="1" dirty="0" err="1"/>
              <a:t>smart_card_transactions</a:t>
            </a:r>
            <a:r>
              <a:rPr lang="en-IN" sz="2400" b="1" dirty="0"/>
              <a:t>;</a:t>
            </a:r>
          </a:p>
          <a:p>
            <a:pPr marL="0" indent="0">
              <a:buNone/>
            </a:pPr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3. DESC </a:t>
            </a:r>
            <a:r>
              <a:rPr lang="en-IN" sz="2400" b="1" dirty="0" err="1"/>
              <a:t>pass_transactions</a:t>
            </a:r>
            <a:r>
              <a:rPr lang="en-IN" sz="2400" b="1" dirty="0"/>
              <a:t>;                                 4. DESC </a:t>
            </a:r>
            <a:r>
              <a:rPr lang="en-IN" sz="2400" b="1" dirty="0" err="1"/>
              <a:t>ticket_transactions</a:t>
            </a:r>
            <a:r>
              <a:rPr lang="en-IN" sz="2400" b="1" dirty="0"/>
              <a:t>;</a:t>
            </a:r>
          </a:p>
          <a:p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583BC8-6B16-8560-9719-44D7442F5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3" y="1837875"/>
            <a:ext cx="4083120" cy="17147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D3282AB-C2D6-F065-3B0E-4764C768D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39" y="1837874"/>
            <a:ext cx="4560070" cy="17147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DCDE4D-F5EA-6678-8FDF-4A6A2B853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47" y="4652433"/>
            <a:ext cx="4466403" cy="181780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421B07-91C4-39B0-C125-B73BC3C12F4D}"/>
              </a:ext>
            </a:extLst>
          </p:cNvPr>
          <p:cNvCxnSpPr>
            <a:cxnSpLocks/>
          </p:cNvCxnSpPr>
          <p:nvPr/>
        </p:nvCxnSpPr>
        <p:spPr>
          <a:xfrm>
            <a:off x="277792" y="3894477"/>
            <a:ext cx="117175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46E140-A01A-1A40-0EAC-1EDBB4A65F1A}"/>
              </a:ext>
            </a:extLst>
          </p:cNvPr>
          <p:cNvCxnSpPr>
            <a:cxnSpLocks/>
          </p:cNvCxnSpPr>
          <p:nvPr/>
        </p:nvCxnSpPr>
        <p:spPr>
          <a:xfrm>
            <a:off x="5681300" y="1377386"/>
            <a:ext cx="0" cy="5363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00A48FAD-D4CA-2632-F7C3-A9BCC49E01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02" y="4652433"/>
            <a:ext cx="4664941" cy="181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8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57523-FFE0-3C1F-614F-6D257766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E4B6-6A01-85FE-EAE5-ABF5339F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206477"/>
            <a:ext cx="11857703" cy="1081549"/>
          </a:xfrm>
        </p:spPr>
        <p:txBody>
          <a:bodyPr/>
          <a:lstStyle/>
          <a:p>
            <a:r>
              <a:rPr lang="en-IN" b="1" dirty="0"/>
              <a:t>TABLE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STRUCTURE</a:t>
            </a:r>
            <a:br>
              <a:rPr lang="en-IN" dirty="0"/>
            </a:br>
            <a:r>
              <a:rPr lang="en-IN" sz="2000" i="1" dirty="0"/>
              <a:t>        MySQL Table Definitions Using DESC Command</a:t>
            </a:r>
            <a:endParaRPr lang="en-IN" i="1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D76FFB6D-9886-862D-EE50-B98479E2050D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277792" y="1377387"/>
            <a:ext cx="11717558" cy="527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1. DESC dates;                                                             2. DESC </a:t>
            </a:r>
            <a:r>
              <a:rPr lang="en-IN" sz="2400" b="1" dirty="0" err="1"/>
              <a:t>smart_card_transactions</a:t>
            </a:r>
            <a:r>
              <a:rPr lang="en-IN" sz="2400" b="1" dirty="0"/>
              <a:t>;</a:t>
            </a:r>
          </a:p>
          <a:p>
            <a:pPr marL="0" indent="0">
              <a:buNone/>
            </a:pPr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3. DESC </a:t>
            </a:r>
            <a:r>
              <a:rPr lang="en-IN" sz="2400" b="1" dirty="0" err="1"/>
              <a:t>pass_transactions</a:t>
            </a:r>
            <a:r>
              <a:rPr lang="en-IN" sz="2400" b="1" dirty="0"/>
              <a:t>;                                 4. DESC </a:t>
            </a:r>
            <a:r>
              <a:rPr lang="en-IN" sz="2400" b="1" dirty="0" err="1"/>
              <a:t>ticket_transactions</a:t>
            </a:r>
            <a:r>
              <a:rPr lang="en-IN" sz="2400" b="1" dirty="0"/>
              <a:t>;</a:t>
            </a:r>
          </a:p>
          <a:p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9F096FB-B7DF-5D57-9F49-36A71D992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63" y="1837875"/>
            <a:ext cx="4083120" cy="17147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247CB41-68D0-B3E5-D28A-835D096C9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739" y="1837874"/>
            <a:ext cx="4560070" cy="17147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09B57B-9CF7-49AC-45C0-33003C1ED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47" y="4652433"/>
            <a:ext cx="4466403" cy="181780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68B695B-E95A-D2B6-5E5A-52405FDADBB5}"/>
              </a:ext>
            </a:extLst>
          </p:cNvPr>
          <p:cNvCxnSpPr>
            <a:cxnSpLocks/>
          </p:cNvCxnSpPr>
          <p:nvPr/>
        </p:nvCxnSpPr>
        <p:spPr>
          <a:xfrm>
            <a:off x="277792" y="3894477"/>
            <a:ext cx="117175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AD81FE-9E93-D4A1-BB01-B26F3A4ADEF5}"/>
              </a:ext>
            </a:extLst>
          </p:cNvPr>
          <p:cNvCxnSpPr>
            <a:cxnSpLocks/>
          </p:cNvCxnSpPr>
          <p:nvPr/>
        </p:nvCxnSpPr>
        <p:spPr>
          <a:xfrm>
            <a:off x="5681300" y="1377386"/>
            <a:ext cx="0" cy="53634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DDAF031A-9997-E82A-8E70-7FD155A41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02" y="4652433"/>
            <a:ext cx="4664941" cy="181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8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2404-7C6E-5408-9181-5FE90EC2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85" y="190983"/>
            <a:ext cx="11867534" cy="1019808"/>
          </a:xfrm>
        </p:spPr>
        <p:txBody>
          <a:bodyPr>
            <a:normAutofit/>
          </a:bodyPr>
          <a:lstStyle/>
          <a:p>
            <a:r>
              <a:rPr lang="en-IN" b="1" dirty="0"/>
              <a:t>TABLE 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STRUCTURE</a:t>
            </a:r>
            <a:br>
              <a:rPr lang="en-IN" sz="2400" dirty="0"/>
            </a:br>
            <a:r>
              <a:rPr lang="en-IN" sz="2000" i="1" dirty="0"/>
              <a:t>        MySQL Table Definitions Using DESC Command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B60B-DD19-C366-9475-17135344D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5" y="1400539"/>
            <a:ext cx="11867534" cy="526647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5. DESC </a:t>
            </a:r>
            <a:r>
              <a:rPr lang="en-IN" b="1" dirty="0" err="1"/>
              <a:t>qr_transactions</a:t>
            </a:r>
            <a:r>
              <a:rPr lang="en-IN" b="1" dirty="0"/>
              <a:t>;                                 6. DESC </a:t>
            </a:r>
            <a:r>
              <a:rPr lang="en-IN" b="1" dirty="0" err="1"/>
              <a:t>qr_channels</a:t>
            </a:r>
            <a:r>
              <a:rPr lang="en-IN" b="1" dirty="0"/>
              <a:t>;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7. DESC </a:t>
            </a:r>
            <a:r>
              <a:rPr lang="en-IN" b="1" dirty="0" err="1"/>
              <a:t>qr_channel_types</a:t>
            </a:r>
            <a:r>
              <a:rPr lang="en-IN" b="1" dirty="0"/>
              <a:t>;                             8. DESC </a:t>
            </a:r>
            <a:r>
              <a:rPr lang="en-IN" b="1" dirty="0" err="1"/>
              <a:t>daily_summary</a:t>
            </a:r>
            <a:r>
              <a:rPr lang="en-IN" b="1" dirty="0"/>
              <a:t>;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FB027-A8A3-7B54-487E-9337081EA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09" y="2062575"/>
            <a:ext cx="4434349" cy="1366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30B291-DD67-7DCB-7EB4-47E0E3BF4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063" y="1901196"/>
            <a:ext cx="4259357" cy="1730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3E2DAA-5242-BF8C-5263-E1D2C40A3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10" y="4863753"/>
            <a:ext cx="4596294" cy="1153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6A8B95-ACBC-8B4E-7307-A8C2878A5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063" y="4537823"/>
            <a:ext cx="4322543" cy="183927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391979-BA65-8139-B683-9235A5CB3946}"/>
              </a:ext>
            </a:extLst>
          </p:cNvPr>
          <p:cNvCxnSpPr>
            <a:cxnSpLocks/>
          </p:cNvCxnSpPr>
          <p:nvPr/>
        </p:nvCxnSpPr>
        <p:spPr>
          <a:xfrm>
            <a:off x="5849757" y="1400539"/>
            <a:ext cx="0" cy="5312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6129B5-B721-2B8A-2BAD-80B2004BE63F}"/>
              </a:ext>
            </a:extLst>
          </p:cNvPr>
          <p:cNvCxnSpPr>
            <a:cxnSpLocks/>
          </p:cNvCxnSpPr>
          <p:nvPr/>
        </p:nvCxnSpPr>
        <p:spPr>
          <a:xfrm>
            <a:off x="120477" y="3870364"/>
            <a:ext cx="118675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70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D26A-DC8D-DC2F-C7F8-F8BACF31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6" y="185195"/>
            <a:ext cx="11759878" cy="1041721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CONTENTS OF </a:t>
            </a:r>
            <a:r>
              <a:rPr lang="en-IN" sz="4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TABLES</a:t>
            </a:r>
            <a:br>
              <a:rPr lang="en-IN" sz="4900" b="1" dirty="0"/>
            </a:br>
            <a:r>
              <a:rPr lang="en-IN" sz="2400" b="1" dirty="0"/>
              <a:t>    </a:t>
            </a:r>
            <a:r>
              <a:rPr lang="en-IN" sz="2400" dirty="0"/>
              <a:t> </a:t>
            </a:r>
            <a:r>
              <a:rPr lang="en-IN" sz="2400" i="1" dirty="0"/>
              <a:t>Sample Records From The </a:t>
            </a:r>
            <a:r>
              <a:rPr lang="en-IN" sz="2400" i="1" dirty="0" err="1"/>
              <a:t>MetroPulse</a:t>
            </a:r>
            <a:r>
              <a:rPr lang="en-IN" sz="2400" i="1" dirty="0"/>
              <a:t>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4F59-4806-6FDB-C856-3659001E9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6" y="1408393"/>
            <a:ext cx="11759877" cy="534264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1. SELECT * FROM dates;                                        </a:t>
            </a:r>
            <a:r>
              <a:rPr lang="en-US" sz="2200" b="1" dirty="0"/>
              <a:t>2. SELECT * FROM </a:t>
            </a:r>
            <a:r>
              <a:rPr lang="en-US" sz="2200" b="1" dirty="0" err="1"/>
              <a:t>smart_card_transactions</a:t>
            </a:r>
            <a:r>
              <a:rPr lang="en-US" sz="2200" b="1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/>
              <a:t>                                                                                                          </a:t>
            </a: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3. SELECT * FROM </a:t>
            </a:r>
            <a:r>
              <a:rPr lang="en-US" sz="2400" b="1" dirty="0" err="1"/>
              <a:t>pass_transactions</a:t>
            </a:r>
            <a:r>
              <a:rPr lang="en-US" sz="2400" b="1" dirty="0"/>
              <a:t>               4. SELECT * FROM</a:t>
            </a:r>
            <a:r>
              <a:rPr lang="en-IN" sz="2400" b="1" dirty="0"/>
              <a:t> </a:t>
            </a:r>
            <a:r>
              <a:rPr lang="en-US" sz="2400" b="1" dirty="0" err="1"/>
              <a:t>ticket_transactions</a:t>
            </a:r>
            <a:r>
              <a:rPr lang="en-US" sz="2400" b="1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09C96-682E-87A9-6B95-47056F689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68" y="1976272"/>
            <a:ext cx="4567938" cy="1737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03FEE5-C673-6370-4FD9-2AFBE27AB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793" y="1976273"/>
            <a:ext cx="4914505" cy="17379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F569F6-C33C-BA68-5CDD-3D9EBBA7F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68" y="4521714"/>
            <a:ext cx="4567927" cy="2151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2AEB23-23E7-A6E1-7DE7-B454485E77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836" y="4521714"/>
            <a:ext cx="4837469" cy="204391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E43196-A466-8FA3-AEEF-712238D01CF1}"/>
              </a:ext>
            </a:extLst>
          </p:cNvPr>
          <p:cNvCxnSpPr>
            <a:cxnSpLocks/>
          </p:cNvCxnSpPr>
          <p:nvPr/>
        </p:nvCxnSpPr>
        <p:spPr>
          <a:xfrm>
            <a:off x="5768175" y="1408393"/>
            <a:ext cx="0" cy="534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8C9F05-4BE7-3783-BCB8-B68677D56195}"/>
              </a:ext>
            </a:extLst>
          </p:cNvPr>
          <p:cNvCxnSpPr/>
          <p:nvPr/>
        </p:nvCxnSpPr>
        <p:spPr>
          <a:xfrm flipH="1">
            <a:off x="162046" y="3873910"/>
            <a:ext cx="117598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683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36DB8-E7B5-DBB7-6394-2A6C31BD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F167-9D80-4BA3-EB60-6E4817883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6" y="186813"/>
            <a:ext cx="11759878" cy="1079137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CONTENTS OF </a:t>
            </a:r>
            <a:r>
              <a:rPr lang="en-IN" sz="4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TABLES</a:t>
            </a:r>
            <a:br>
              <a:rPr lang="en-IN" sz="4900" b="1" dirty="0"/>
            </a:br>
            <a:r>
              <a:rPr lang="en-IN" sz="2400" b="1" dirty="0"/>
              <a:t>    </a:t>
            </a:r>
            <a:r>
              <a:rPr lang="en-IN" sz="2400" dirty="0"/>
              <a:t>  </a:t>
            </a:r>
            <a:r>
              <a:rPr lang="en-IN" sz="2400" i="1" dirty="0"/>
              <a:t>Sample Records From The </a:t>
            </a:r>
            <a:r>
              <a:rPr lang="en-IN" sz="2400" i="1" dirty="0" err="1"/>
              <a:t>MetroPulse</a:t>
            </a:r>
            <a:r>
              <a:rPr lang="en-IN" sz="2400" i="1" dirty="0"/>
              <a:t> Database Using SELECT 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237BE-E01D-6A4E-A899-DB12AD875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6" y="1412110"/>
            <a:ext cx="11759877" cy="5342651"/>
          </a:xfrm>
        </p:spPr>
        <p:txBody>
          <a:bodyPr>
            <a:norm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sz="2400" b="1" dirty="0"/>
              <a:t>SELECT * FROM </a:t>
            </a:r>
            <a:r>
              <a:rPr lang="en-IN" sz="2400" b="1" dirty="0" err="1"/>
              <a:t>qr_transactions</a:t>
            </a:r>
            <a:r>
              <a:rPr lang="en-IN" sz="2400" b="1" dirty="0"/>
              <a:t>;                     </a:t>
            </a:r>
            <a:r>
              <a:rPr lang="en-US" sz="2400" b="1" dirty="0"/>
              <a:t>2.  SELECT * FROM </a:t>
            </a:r>
            <a:r>
              <a:rPr lang="en-US" sz="2400" b="1" dirty="0" err="1"/>
              <a:t>qr_channels</a:t>
            </a:r>
            <a:r>
              <a:rPr lang="en-US" sz="2400" b="1" dirty="0"/>
              <a:t>;</a:t>
            </a:r>
          </a:p>
          <a:p>
            <a:pPr marL="514350" indent="-514350">
              <a:buAutoNum type="arabicPeriod"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3. SELECT * FROM </a:t>
            </a:r>
            <a:r>
              <a:rPr lang="en-US" sz="2400" b="1" dirty="0" err="1"/>
              <a:t>qr_channel_types</a:t>
            </a:r>
            <a:r>
              <a:rPr lang="en-US" sz="2400" b="1" dirty="0"/>
              <a:t>;                   4. SELECT * FROM </a:t>
            </a:r>
            <a:r>
              <a:rPr lang="en-US" sz="2400" b="1" dirty="0" err="1"/>
              <a:t>daily_summary</a:t>
            </a:r>
            <a:r>
              <a:rPr lang="en-US" sz="2400" b="1" dirty="0"/>
              <a:t>;</a:t>
            </a:r>
          </a:p>
          <a:p>
            <a:pPr marL="0" indent="0">
              <a:buNone/>
            </a:pPr>
            <a:r>
              <a:rPr lang="en-US" sz="2400" b="1" dirty="0"/>
              <a:t>                                                       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14B47-FF55-2069-34CB-A32250632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13" y="1852541"/>
            <a:ext cx="3617406" cy="1778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6EA8A6-B287-6D3E-1E15-858D7ECDB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626" y="1852541"/>
            <a:ext cx="4691369" cy="1778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6E0708-FDD4-18E9-C3B4-D0569F784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3" y="4652294"/>
            <a:ext cx="3696920" cy="19254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96BA9F2-B2B0-E38E-48EE-3356BC7A2F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81" y="4652294"/>
            <a:ext cx="5421929" cy="192548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5B26CB-5863-F67D-0316-9C524F5C5B45}"/>
              </a:ext>
            </a:extLst>
          </p:cNvPr>
          <p:cNvCxnSpPr>
            <a:cxnSpLocks/>
          </p:cNvCxnSpPr>
          <p:nvPr/>
        </p:nvCxnSpPr>
        <p:spPr>
          <a:xfrm>
            <a:off x="5815220" y="1412110"/>
            <a:ext cx="0" cy="53426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C4292F-1918-5446-0E7F-E446D8BF81F7}"/>
              </a:ext>
            </a:extLst>
          </p:cNvPr>
          <p:cNvCxnSpPr/>
          <p:nvPr/>
        </p:nvCxnSpPr>
        <p:spPr>
          <a:xfrm>
            <a:off x="162046" y="3883743"/>
            <a:ext cx="116366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04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962B-3C07-9786-E658-8170CDEB1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206478"/>
            <a:ext cx="11759381" cy="973394"/>
          </a:xfrm>
        </p:spPr>
        <p:txBody>
          <a:bodyPr>
            <a:normAutofit fontScale="90000"/>
          </a:bodyPr>
          <a:lstStyle/>
          <a:p>
            <a:r>
              <a:rPr lang="en-IN" sz="4900" b="1" dirty="0"/>
              <a:t>SUB</a:t>
            </a:r>
            <a:r>
              <a:rPr lang="en-IN" sz="4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QUERIES</a:t>
            </a:r>
            <a:b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IN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</a:t>
            </a:r>
            <a:r>
              <a:rPr lang="en-IN" sz="2400" i="1" dirty="0"/>
              <a:t>Business questions solved using nested SQL queries</a:t>
            </a:r>
            <a:endParaRPr lang="en-IN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69F26-E2B9-6583-46DA-2BDE64D39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307690"/>
            <a:ext cx="11759381" cy="53438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        Above Average Daily Transactions Question: 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Which dates had transactions above the average daily total?</a:t>
            </a:r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record_date</a:t>
            </a:r>
            <a:r>
              <a:rPr lang="en-US" sz="1800" b="1" dirty="0"/>
              <a:t>, </a:t>
            </a:r>
            <a:r>
              <a:rPr lang="en-US" sz="1800" b="1" dirty="0" err="1"/>
              <a:t>total_daily_transactions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daily_summary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WHERE </a:t>
            </a:r>
            <a:r>
              <a:rPr lang="en-US" sz="1800" b="1" dirty="0" err="1"/>
              <a:t>total_daily_transactions</a:t>
            </a:r>
            <a:r>
              <a:rPr lang="en-US" sz="1800" b="1" dirty="0"/>
              <a:t> &gt;   </a:t>
            </a:r>
          </a:p>
          <a:p>
            <a:pPr marL="0" indent="0">
              <a:buNone/>
            </a:pPr>
            <a:r>
              <a:rPr lang="en-US" sz="1800" b="1" dirty="0"/>
              <a:t>(SELECT AVG(</a:t>
            </a:r>
            <a:r>
              <a:rPr lang="en-US" sz="1800" b="1" dirty="0" err="1"/>
              <a:t>total_daily_transactions</a:t>
            </a:r>
            <a:r>
              <a:rPr lang="en-US" sz="1800" b="1" dirty="0"/>
              <a:t>)       </a:t>
            </a:r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daily_summary</a:t>
            </a:r>
            <a:r>
              <a:rPr lang="en-US" sz="1800" b="1" dirty="0"/>
              <a:t>);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2400" b="1" dirty="0"/>
              <a:t>       Highest Smart Card Usage Question: 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Which date recorded the highest smart card transactions?</a:t>
            </a:r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record_date</a:t>
            </a:r>
            <a:r>
              <a:rPr lang="en-US" sz="1800" b="1" dirty="0"/>
              <a:t>, </a:t>
            </a:r>
            <a:r>
              <a:rPr lang="en-US" sz="1800" b="1" dirty="0" err="1"/>
              <a:t>total_smart_cards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smart_card_transactions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WHERE </a:t>
            </a:r>
            <a:r>
              <a:rPr lang="en-US" sz="1800" b="1" dirty="0" err="1"/>
              <a:t>total_smart_cards</a:t>
            </a:r>
            <a:r>
              <a:rPr lang="en-US" sz="1800" b="1" dirty="0"/>
              <a:t>  =   (SELECT MAX(</a:t>
            </a:r>
            <a:r>
              <a:rPr lang="en-US" sz="1800" b="1" dirty="0" err="1"/>
              <a:t>total_smart_cards</a:t>
            </a:r>
            <a:r>
              <a:rPr lang="en-US" sz="1800" b="1" dirty="0"/>
              <a:t>)      </a:t>
            </a:r>
          </a:p>
          <a:p>
            <a:pPr marL="0" indent="0">
              <a:buNone/>
            </a:pPr>
            <a:r>
              <a:rPr lang="en-US" sz="1800" b="1" dirty="0"/>
              <a:t> FROM </a:t>
            </a:r>
            <a:r>
              <a:rPr lang="en-US" sz="1800" b="1" dirty="0" err="1"/>
              <a:t>smart_card_transactions</a:t>
            </a:r>
            <a:r>
              <a:rPr lang="en-US" sz="1800" b="1" dirty="0"/>
              <a:t>);</a:t>
            </a:r>
          </a:p>
        </p:txBody>
      </p:sp>
      <p:pic>
        <p:nvPicPr>
          <p:cNvPr id="5" name="Graphic 4" descr="Badge 1 with solid fill">
            <a:extLst>
              <a:ext uri="{FF2B5EF4-FFF2-40B4-BE49-F238E27FC236}">
                <a16:creationId xmlns:a16="http://schemas.microsoft.com/office/drawing/2014/main" id="{F9F555DF-B09C-BEF7-6E6A-14FF6CC60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573" y="1307691"/>
            <a:ext cx="394902" cy="394902"/>
          </a:xfrm>
          <a:prstGeom prst="rect">
            <a:avLst/>
          </a:prstGeom>
        </p:spPr>
      </p:pic>
      <p:pic>
        <p:nvPicPr>
          <p:cNvPr id="7" name="Graphic 6" descr="Badge with solid fill">
            <a:extLst>
              <a:ext uri="{FF2B5EF4-FFF2-40B4-BE49-F238E27FC236}">
                <a16:creationId xmlns:a16="http://schemas.microsoft.com/office/drawing/2014/main" id="{08135F56-8BE3-41BD-62A7-BCE558FA0D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581" y="4192338"/>
            <a:ext cx="369560" cy="369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6E5B86-8BAE-E334-49CD-71D184DB5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365" y="5197033"/>
            <a:ext cx="4354296" cy="13387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E70C7B-EF01-3043-8B2D-21794DC42F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365" y="2187620"/>
            <a:ext cx="3971612" cy="166539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08160D-212D-9D29-72CF-5ED27FF824EE}"/>
              </a:ext>
            </a:extLst>
          </p:cNvPr>
          <p:cNvCxnSpPr>
            <a:cxnSpLocks/>
          </p:cNvCxnSpPr>
          <p:nvPr/>
        </p:nvCxnSpPr>
        <p:spPr>
          <a:xfrm>
            <a:off x="176981" y="4031704"/>
            <a:ext cx="117790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20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15AD0-28EE-54F9-57B9-F6B6E1CA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002F-9886-4299-9B68-E3D644DC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206478"/>
            <a:ext cx="11759381" cy="91626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SUB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QUERIES</a:t>
            </a:r>
            <a:b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r>
              <a:rPr lang="en-IN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</a:t>
            </a:r>
            <a:r>
              <a:rPr lang="en-IN" sz="2400" i="1" dirty="0"/>
              <a:t>Business questions solved using nested SQL queries</a:t>
            </a:r>
            <a:endParaRPr lang="en-IN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3CF8-04F7-C1EE-B9E2-63FFF16FB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1296490"/>
            <a:ext cx="11759381" cy="5561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       Highest QR Transactions Question: 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Which date had the highest QR transactions?</a:t>
            </a:r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record_date</a:t>
            </a:r>
            <a:r>
              <a:rPr lang="en-US" sz="1800" b="1" dirty="0"/>
              <a:t>, </a:t>
            </a:r>
            <a:r>
              <a:rPr lang="en-US" sz="1800" b="1" dirty="0" err="1"/>
              <a:t>total_qr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qr_transactions</a:t>
            </a:r>
            <a:r>
              <a:rPr lang="en-US" sz="1800" b="1" dirty="0"/>
              <a:t> WHERE </a:t>
            </a:r>
            <a:r>
              <a:rPr lang="en-US" sz="1800" b="1" dirty="0" err="1"/>
              <a:t>total_qr</a:t>
            </a:r>
            <a:r>
              <a:rPr lang="en-US" sz="1800" b="1" dirty="0"/>
              <a:t>  = </a:t>
            </a:r>
          </a:p>
          <a:p>
            <a:pPr marL="0" indent="0">
              <a:buNone/>
            </a:pPr>
            <a:r>
              <a:rPr lang="en-US" sz="1800" b="1" dirty="0"/>
              <a:t>(SELECT MAX(</a:t>
            </a:r>
            <a:r>
              <a:rPr lang="en-US" sz="1800" b="1" dirty="0" err="1"/>
              <a:t>total_qr</a:t>
            </a:r>
            <a:r>
              <a:rPr lang="en-US" sz="1800" b="1" dirty="0"/>
              <a:t>)   </a:t>
            </a:r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qr_transactions</a:t>
            </a:r>
            <a:r>
              <a:rPr lang="en-US" sz="1800" b="1" dirty="0"/>
              <a:t>);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2400" b="1" dirty="0"/>
              <a:t>        Above Average QR Channel Usage Question: </a:t>
            </a:r>
          </a:p>
          <a:p>
            <a:pPr marL="0" indent="0">
              <a:buNone/>
            </a:pPr>
            <a:r>
              <a:rPr lang="en-US" sz="25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Which QR channels performed above the average channel usage?</a:t>
            </a:r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channel_name</a:t>
            </a:r>
            <a:r>
              <a:rPr lang="en-US" sz="1800" b="1" dirty="0"/>
              <a:t>, </a:t>
            </a:r>
            <a:r>
              <a:rPr lang="en-US" sz="1800" b="1" dirty="0" err="1"/>
              <a:t>transaction_count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qr_channels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WHERE </a:t>
            </a:r>
            <a:r>
              <a:rPr lang="en-US" sz="1800" b="1" dirty="0" err="1"/>
              <a:t>transaction_count</a:t>
            </a:r>
            <a:r>
              <a:rPr lang="en-US" sz="1800" b="1" dirty="0"/>
              <a:t> &gt; </a:t>
            </a:r>
          </a:p>
          <a:p>
            <a:pPr marL="0" indent="0">
              <a:buNone/>
            </a:pPr>
            <a:r>
              <a:rPr lang="en-US" sz="1800" b="1" dirty="0"/>
              <a:t>(SELECT AVG(</a:t>
            </a:r>
            <a:r>
              <a:rPr lang="en-US" sz="1800" b="1" dirty="0" err="1"/>
              <a:t>transaction_count</a:t>
            </a:r>
            <a:r>
              <a:rPr lang="en-US" sz="1800" b="1" dirty="0"/>
              <a:t>)       </a:t>
            </a:r>
          </a:p>
          <a:p>
            <a:pPr marL="0" indent="0">
              <a:buNone/>
            </a:pPr>
            <a:r>
              <a:rPr lang="en-US" sz="1800" b="1" dirty="0"/>
              <a:t>FROM </a:t>
            </a:r>
            <a:r>
              <a:rPr lang="en-US" sz="1800" b="1" dirty="0" err="1"/>
              <a:t>qr_channels</a:t>
            </a:r>
            <a:r>
              <a:rPr lang="en-US" sz="1800" b="1" dirty="0"/>
              <a:t>);</a:t>
            </a:r>
          </a:p>
        </p:txBody>
      </p:sp>
      <p:pic>
        <p:nvPicPr>
          <p:cNvPr id="6" name="Graphic 5" descr="Badge 3 with solid fill">
            <a:extLst>
              <a:ext uri="{FF2B5EF4-FFF2-40B4-BE49-F238E27FC236}">
                <a16:creationId xmlns:a16="http://schemas.microsoft.com/office/drawing/2014/main" id="{3B1734AD-14BC-0394-83F3-4E3189408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150" y="1296490"/>
            <a:ext cx="418930" cy="418930"/>
          </a:xfrm>
          <a:prstGeom prst="rect">
            <a:avLst/>
          </a:prstGeom>
        </p:spPr>
      </p:pic>
      <p:pic>
        <p:nvPicPr>
          <p:cNvPr id="9" name="Graphic 8" descr="Badge 4 with solid fill">
            <a:extLst>
              <a:ext uri="{FF2B5EF4-FFF2-40B4-BE49-F238E27FC236}">
                <a16:creationId xmlns:a16="http://schemas.microsoft.com/office/drawing/2014/main" id="{4A3F1F61-FCC3-F678-2CEC-F9B0035AF5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50" y="3764541"/>
            <a:ext cx="418930" cy="418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8C480C-5E79-D1CC-8CE7-3BAB5905A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52" y="4676172"/>
            <a:ext cx="4888374" cy="1975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8D5875-4C08-B33B-D7B1-9F32102184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123" y="1973720"/>
            <a:ext cx="4331072" cy="123266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A9AB49-9E7B-84DC-9032-FEFA1276A9A6}"/>
              </a:ext>
            </a:extLst>
          </p:cNvPr>
          <p:cNvCxnSpPr>
            <a:cxnSpLocks/>
          </p:cNvCxnSpPr>
          <p:nvPr/>
        </p:nvCxnSpPr>
        <p:spPr>
          <a:xfrm>
            <a:off x="196645" y="3662204"/>
            <a:ext cx="117790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49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2E0D-3C33-1D8A-E7A5-93F361A55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67" y="167149"/>
            <a:ext cx="11655706" cy="9438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JOIN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</a:t>
            </a:r>
            <a:br>
              <a:rPr lang="en-IN" dirty="0"/>
            </a:br>
            <a:r>
              <a:rPr lang="en-IN" dirty="0"/>
              <a:t>  </a:t>
            </a:r>
            <a:r>
              <a:rPr lang="en-IN" sz="2400" i="1" dirty="0"/>
              <a:t>Combining related tables to </a:t>
            </a:r>
            <a:r>
              <a:rPr lang="en-IN" sz="2400" i="1" dirty="0" err="1"/>
              <a:t>analyze</a:t>
            </a:r>
            <a:r>
              <a:rPr lang="en-IN" sz="2400" i="1" dirty="0"/>
              <a:t> Metro transaction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DED81-8080-2221-62D7-D76D955CE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67" y="1356852"/>
            <a:ext cx="11655706" cy="52465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600" b="1" dirty="0"/>
              <a:t>           Dates + Smart Cards Question: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Show the date, day name and smart card transactions.</a:t>
            </a:r>
          </a:p>
          <a:p>
            <a:pPr marL="0" indent="0">
              <a:buNone/>
            </a:pPr>
            <a:r>
              <a:rPr lang="en-IN" sz="2300" b="1" dirty="0"/>
              <a:t>SELECT </a:t>
            </a:r>
            <a:r>
              <a:rPr lang="en-IN" sz="2300" b="1" dirty="0" err="1"/>
              <a:t>d.record_date</a:t>
            </a:r>
            <a:r>
              <a:rPr lang="en-IN" sz="2300" b="1" dirty="0"/>
              <a:t>, </a:t>
            </a:r>
            <a:r>
              <a:rPr lang="en-IN" sz="2300" b="1" dirty="0" err="1"/>
              <a:t>d.day_name</a:t>
            </a:r>
            <a:r>
              <a:rPr lang="en-IN" sz="2300" b="1" dirty="0"/>
              <a:t>, </a:t>
            </a:r>
          </a:p>
          <a:p>
            <a:pPr marL="0" indent="0">
              <a:buNone/>
            </a:pPr>
            <a:r>
              <a:rPr lang="en-IN" sz="2300" b="1" dirty="0" err="1"/>
              <a:t>s.total_smart_cards</a:t>
            </a:r>
            <a:r>
              <a:rPr lang="en-IN" sz="2300" b="1" dirty="0"/>
              <a:t> FROM dates d</a:t>
            </a:r>
          </a:p>
          <a:p>
            <a:pPr marL="0" indent="0">
              <a:buNone/>
            </a:pPr>
            <a:r>
              <a:rPr lang="en-IN" sz="2300" b="1" dirty="0"/>
              <a:t>JOIN </a:t>
            </a:r>
            <a:r>
              <a:rPr lang="en-IN" sz="2300" b="1" dirty="0" err="1"/>
              <a:t>smart_card_transactions</a:t>
            </a:r>
            <a:r>
              <a:rPr lang="en-IN" sz="2300" b="1" dirty="0"/>
              <a:t> s</a:t>
            </a:r>
          </a:p>
          <a:p>
            <a:pPr marL="0" indent="0">
              <a:buNone/>
            </a:pPr>
            <a:r>
              <a:rPr lang="en-IN" sz="2300" b="1" dirty="0"/>
              <a:t>ON </a:t>
            </a:r>
            <a:r>
              <a:rPr lang="en-IN" sz="2300" b="1" dirty="0" err="1"/>
              <a:t>d.record_date</a:t>
            </a:r>
            <a:r>
              <a:rPr lang="en-IN" sz="2300" b="1" dirty="0"/>
              <a:t> = </a:t>
            </a:r>
            <a:r>
              <a:rPr lang="en-IN" sz="2300" b="1" dirty="0" err="1"/>
              <a:t>s.record_date</a:t>
            </a:r>
            <a:r>
              <a:rPr lang="en-IN" sz="2300" b="1" dirty="0"/>
              <a:t>;</a:t>
            </a:r>
          </a:p>
          <a:p>
            <a:pPr marL="0" indent="0">
              <a:buNone/>
            </a:pPr>
            <a:r>
              <a:rPr lang="en-IN" sz="2300" b="1" dirty="0">
                <a:solidFill>
                  <a:srgbClr val="0070C0"/>
                </a:solidFill>
              </a:rPr>
              <a:t>Type: INNER JOIN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600" b="1" dirty="0"/>
              <a:t>           Dates + Passes Question: 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Show daily pass transactions along with the day.</a:t>
            </a:r>
          </a:p>
          <a:p>
            <a:pPr marL="0" indent="0">
              <a:buNone/>
            </a:pPr>
            <a:r>
              <a:rPr lang="en-IN" sz="2300" b="1" dirty="0"/>
              <a:t>SELECT </a:t>
            </a:r>
            <a:r>
              <a:rPr lang="en-IN" sz="2300" b="1" dirty="0" err="1"/>
              <a:t>d.record_date</a:t>
            </a:r>
            <a:r>
              <a:rPr lang="en-IN" sz="2300" b="1" dirty="0"/>
              <a:t>, </a:t>
            </a:r>
            <a:r>
              <a:rPr lang="en-IN" sz="2300" b="1" dirty="0" err="1"/>
              <a:t>d.day_name</a:t>
            </a:r>
            <a:r>
              <a:rPr lang="en-IN" sz="2300" b="1" dirty="0"/>
              <a:t>, </a:t>
            </a:r>
          </a:p>
          <a:p>
            <a:pPr marL="0" indent="0">
              <a:buNone/>
            </a:pPr>
            <a:r>
              <a:rPr lang="en-IN" sz="2300" b="1" dirty="0" err="1"/>
              <a:t>p.one_day_pass</a:t>
            </a:r>
            <a:r>
              <a:rPr lang="en-IN" sz="2300" b="1" dirty="0"/>
              <a:t>, </a:t>
            </a:r>
            <a:r>
              <a:rPr lang="en-IN" sz="2300" b="1" dirty="0" err="1"/>
              <a:t>p.three_day_pass</a:t>
            </a:r>
            <a:r>
              <a:rPr lang="en-IN" sz="2300" b="1" dirty="0"/>
              <a:t>, </a:t>
            </a:r>
          </a:p>
          <a:p>
            <a:pPr marL="0" indent="0">
              <a:buNone/>
            </a:pPr>
            <a:r>
              <a:rPr lang="en-IN" sz="2300" b="1" dirty="0" err="1"/>
              <a:t>p.five_day_pass</a:t>
            </a:r>
            <a:r>
              <a:rPr lang="en-IN" sz="2300" b="1" dirty="0"/>
              <a:t> FROM dates d</a:t>
            </a:r>
          </a:p>
          <a:p>
            <a:pPr marL="0" indent="0">
              <a:buNone/>
            </a:pPr>
            <a:r>
              <a:rPr lang="en-IN" sz="2300" b="1" dirty="0"/>
              <a:t>JOIN </a:t>
            </a:r>
            <a:r>
              <a:rPr lang="en-IN" sz="2300" b="1" dirty="0" err="1"/>
              <a:t>pass_transactions</a:t>
            </a:r>
            <a:r>
              <a:rPr lang="en-IN" sz="2300" b="1" dirty="0"/>
              <a:t> p</a:t>
            </a:r>
          </a:p>
          <a:p>
            <a:pPr marL="0" indent="0">
              <a:buNone/>
            </a:pPr>
            <a:r>
              <a:rPr lang="en-IN" sz="2300" b="1" dirty="0"/>
              <a:t>ON </a:t>
            </a:r>
            <a:r>
              <a:rPr lang="en-IN" sz="2300" b="1" dirty="0" err="1"/>
              <a:t>d.record_date</a:t>
            </a:r>
            <a:r>
              <a:rPr lang="en-IN" sz="2300" b="1" dirty="0"/>
              <a:t> = </a:t>
            </a:r>
            <a:r>
              <a:rPr lang="en-IN" sz="2300" b="1" dirty="0" err="1"/>
              <a:t>p.record_date</a:t>
            </a:r>
            <a:r>
              <a:rPr lang="en-IN" sz="2300" b="1" dirty="0"/>
              <a:t>;</a:t>
            </a:r>
          </a:p>
          <a:p>
            <a:pPr marL="0" indent="0">
              <a:buNone/>
            </a:pPr>
            <a:r>
              <a:rPr lang="en-IN" sz="2300" b="1" dirty="0">
                <a:solidFill>
                  <a:srgbClr val="0070C0"/>
                </a:solidFill>
              </a:rPr>
              <a:t>Type: INNER JOIN</a:t>
            </a:r>
          </a:p>
        </p:txBody>
      </p:sp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8014227C-5063-8003-04A2-52F93DD0B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190" y="1356852"/>
            <a:ext cx="329921" cy="329921"/>
          </a:xfrm>
          <a:prstGeom prst="rect">
            <a:avLst/>
          </a:prstGeom>
        </p:spPr>
      </p:pic>
      <p:pic>
        <p:nvPicPr>
          <p:cNvPr id="15" name="Graphic 14" descr="Badge with solid fill">
            <a:extLst>
              <a:ext uri="{FF2B5EF4-FFF2-40B4-BE49-F238E27FC236}">
                <a16:creationId xmlns:a16="http://schemas.microsoft.com/office/drawing/2014/main" id="{3B25C3D5-D59C-BDAB-06BF-1B880CEF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190" y="3889670"/>
            <a:ext cx="354204" cy="35420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A8A327-1902-7B6C-BDB6-8C4A94015369}"/>
              </a:ext>
            </a:extLst>
          </p:cNvPr>
          <p:cNvCxnSpPr/>
          <p:nvPr/>
        </p:nvCxnSpPr>
        <p:spPr>
          <a:xfrm>
            <a:off x="289367" y="3758084"/>
            <a:ext cx="11655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33FE974-E3D5-C18B-8B3F-A25205D21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707" y="1521812"/>
            <a:ext cx="4427090" cy="20123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BFCF57-1ABB-3DB2-70E8-F0285385DC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74" y="4168878"/>
            <a:ext cx="5149023" cy="222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9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9A1D0-3D2E-CC0E-D2C4-5F37CECB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10CC9-0B62-8907-873C-7155C571B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67" y="167149"/>
            <a:ext cx="11655706" cy="9438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JO</a:t>
            </a:r>
            <a:r>
              <a:rPr lang="en-IN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INS</a:t>
            </a:r>
            <a:br>
              <a:rPr lang="en-IN" dirty="0"/>
            </a:br>
            <a:r>
              <a:rPr lang="en-IN" dirty="0"/>
              <a:t>  </a:t>
            </a:r>
            <a:r>
              <a:rPr lang="en-IN" sz="2400" i="1" dirty="0"/>
              <a:t>Combining related tables to </a:t>
            </a:r>
            <a:r>
              <a:rPr lang="en-IN" sz="2400" i="1" dirty="0" err="1"/>
              <a:t>analyze</a:t>
            </a:r>
            <a:r>
              <a:rPr lang="en-IN" sz="2400" i="1" dirty="0"/>
              <a:t> Metro transaction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2DA1-B69C-D862-A36E-37F18038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67" y="1356852"/>
            <a:ext cx="11655706" cy="52465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b="1" dirty="0"/>
              <a:t>          Dates + Tickets + QR Question: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Compare ticket and QR transactions by date.</a:t>
            </a:r>
          </a:p>
          <a:p>
            <a:pPr marL="0" indent="0">
              <a:buNone/>
            </a:pPr>
            <a:r>
              <a:rPr lang="en-IN" sz="1900" b="1" dirty="0"/>
              <a:t>SELECT </a:t>
            </a:r>
            <a:r>
              <a:rPr lang="en-IN" sz="1900" b="1" dirty="0" err="1"/>
              <a:t>d.record_date</a:t>
            </a:r>
            <a:r>
              <a:rPr lang="en-IN" sz="1900" b="1" dirty="0"/>
              <a:t>, </a:t>
            </a:r>
            <a:r>
              <a:rPr lang="en-IN" sz="1900" b="1" dirty="0" err="1"/>
              <a:t>t.total_tokens</a:t>
            </a:r>
            <a:r>
              <a:rPr lang="en-IN" sz="1900" b="1" dirty="0"/>
              <a:t>, </a:t>
            </a:r>
            <a:r>
              <a:rPr lang="en-IN" sz="1900" b="1" dirty="0" err="1"/>
              <a:t>t.total_ncmc</a:t>
            </a:r>
            <a:r>
              <a:rPr lang="en-IN" sz="1900" b="1" dirty="0"/>
              <a:t>, </a:t>
            </a:r>
            <a:r>
              <a:rPr lang="en-IN" sz="1900" b="1" dirty="0" err="1"/>
              <a:t>q.total_qr</a:t>
            </a:r>
            <a:r>
              <a:rPr lang="en-IN" sz="1900" b="1" dirty="0"/>
              <a:t> </a:t>
            </a:r>
          </a:p>
          <a:p>
            <a:pPr marL="0" indent="0">
              <a:buNone/>
            </a:pPr>
            <a:r>
              <a:rPr lang="en-IN" sz="1900" b="1" dirty="0"/>
              <a:t>FROM dates d JOIN </a:t>
            </a:r>
            <a:r>
              <a:rPr lang="en-IN" sz="1900" b="1" dirty="0" err="1"/>
              <a:t>ticket_transactions</a:t>
            </a:r>
            <a:r>
              <a:rPr lang="en-IN" sz="1900" b="1" dirty="0"/>
              <a:t> </a:t>
            </a:r>
          </a:p>
          <a:p>
            <a:pPr marL="0" indent="0">
              <a:buNone/>
            </a:pPr>
            <a:r>
              <a:rPr lang="en-IN" sz="1900" b="1" dirty="0"/>
              <a:t>t ON </a:t>
            </a:r>
            <a:r>
              <a:rPr lang="en-IN" sz="1900" b="1" dirty="0" err="1"/>
              <a:t>d.record_date</a:t>
            </a:r>
            <a:r>
              <a:rPr lang="en-IN" sz="1900" b="1" dirty="0"/>
              <a:t> = </a:t>
            </a:r>
            <a:r>
              <a:rPr lang="en-IN" sz="1900" b="1" dirty="0" err="1"/>
              <a:t>t.record_date</a:t>
            </a:r>
            <a:r>
              <a:rPr lang="en-IN" sz="1900" b="1" dirty="0"/>
              <a:t> JOIN </a:t>
            </a:r>
            <a:r>
              <a:rPr lang="en-IN" sz="1900" b="1" dirty="0" err="1"/>
              <a:t>qr_transactions</a:t>
            </a:r>
            <a:endParaRPr lang="en-IN" sz="1900" b="1" dirty="0"/>
          </a:p>
          <a:p>
            <a:pPr marL="0" indent="0">
              <a:buNone/>
            </a:pPr>
            <a:r>
              <a:rPr lang="en-IN" sz="1900" b="1" dirty="0"/>
              <a:t>q ON </a:t>
            </a:r>
            <a:r>
              <a:rPr lang="en-IN" sz="1900" b="1" dirty="0" err="1"/>
              <a:t>d.record_date</a:t>
            </a:r>
            <a:r>
              <a:rPr lang="en-IN" sz="1900" b="1" dirty="0"/>
              <a:t> = </a:t>
            </a:r>
            <a:r>
              <a:rPr lang="en-IN" sz="1900" b="1" dirty="0" err="1"/>
              <a:t>q.record_date</a:t>
            </a:r>
            <a:r>
              <a:rPr lang="en-IN" sz="1900" b="1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900" b="1" dirty="0">
                <a:solidFill>
                  <a:srgbClr val="0070C0"/>
                </a:solidFill>
              </a:rPr>
              <a:t>Type: Multiple INNER JOIN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b="1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200" b="1" dirty="0"/>
              <a:t>         Dates + QR Channels Question:</a:t>
            </a:r>
          </a:p>
          <a:p>
            <a:pPr marL="0" indent="0">
              <a:buNone/>
            </a:pPr>
            <a:r>
              <a:rPr lang="en-IN" sz="2000" b="1" dirty="0"/>
              <a:t> </a:t>
            </a:r>
            <a:r>
              <a:rPr lang="en-IN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Show QR channel-wise transactions by date.</a:t>
            </a:r>
          </a:p>
          <a:p>
            <a:pPr marL="0" indent="0">
              <a:buNone/>
            </a:pPr>
            <a:r>
              <a:rPr lang="en-IN" sz="1900" b="1" dirty="0"/>
              <a:t>SELECT </a:t>
            </a:r>
            <a:r>
              <a:rPr lang="en-IN" sz="1900" b="1" dirty="0" err="1"/>
              <a:t>d.record_date</a:t>
            </a:r>
            <a:r>
              <a:rPr lang="en-IN" sz="1900" b="1" dirty="0"/>
              <a:t>, </a:t>
            </a:r>
            <a:r>
              <a:rPr lang="en-IN" sz="1900" b="1" dirty="0" err="1"/>
              <a:t>q.channel_name</a:t>
            </a:r>
            <a:r>
              <a:rPr lang="en-IN" sz="1900" b="1" dirty="0"/>
              <a:t>, </a:t>
            </a:r>
            <a:r>
              <a:rPr lang="en-IN" sz="1900" b="1" dirty="0" err="1"/>
              <a:t>q.transaction_count</a:t>
            </a:r>
            <a:endParaRPr lang="en-IN" sz="1900" b="1" dirty="0"/>
          </a:p>
          <a:p>
            <a:pPr marL="0" indent="0">
              <a:buNone/>
            </a:pPr>
            <a:r>
              <a:rPr lang="en-IN" sz="1900" b="1" dirty="0"/>
              <a:t>FROM dates d JOIN </a:t>
            </a:r>
            <a:r>
              <a:rPr lang="en-IN" sz="1900" b="1" dirty="0" err="1"/>
              <a:t>qr_channels</a:t>
            </a:r>
            <a:r>
              <a:rPr lang="en-IN" sz="1900" b="1" dirty="0"/>
              <a:t> q</a:t>
            </a:r>
          </a:p>
          <a:p>
            <a:pPr marL="0" indent="0">
              <a:buNone/>
            </a:pPr>
            <a:r>
              <a:rPr lang="en-IN" sz="1900" b="1" dirty="0"/>
              <a:t>ON </a:t>
            </a:r>
            <a:r>
              <a:rPr lang="en-IN" sz="1900" b="1" dirty="0" err="1"/>
              <a:t>d.record_date</a:t>
            </a:r>
            <a:r>
              <a:rPr lang="en-IN" sz="1900" b="1" dirty="0"/>
              <a:t> = </a:t>
            </a:r>
            <a:r>
              <a:rPr lang="en-IN" sz="1900" b="1" dirty="0" err="1"/>
              <a:t>q.record_date</a:t>
            </a:r>
            <a:r>
              <a:rPr lang="en-IN" sz="1900" b="1" dirty="0"/>
              <a:t>;</a:t>
            </a:r>
          </a:p>
          <a:p>
            <a:pPr marL="0" indent="0">
              <a:buNone/>
            </a:pPr>
            <a:r>
              <a:rPr lang="en-IN" sz="1900" b="1" dirty="0">
                <a:solidFill>
                  <a:srgbClr val="0070C0"/>
                </a:solidFill>
              </a:rPr>
              <a:t>Type: INNER JOIN</a:t>
            </a:r>
          </a:p>
        </p:txBody>
      </p:sp>
      <p:pic>
        <p:nvPicPr>
          <p:cNvPr id="5" name="Graphic 4" descr="Badge 3 with solid fill">
            <a:extLst>
              <a:ext uri="{FF2B5EF4-FFF2-40B4-BE49-F238E27FC236}">
                <a16:creationId xmlns:a16="http://schemas.microsoft.com/office/drawing/2014/main" id="{9252A523-EAFE-B6EC-38E7-B470374343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996" y="1356852"/>
            <a:ext cx="360066" cy="360066"/>
          </a:xfrm>
          <a:prstGeom prst="rect">
            <a:avLst/>
          </a:prstGeom>
        </p:spPr>
      </p:pic>
      <p:pic>
        <p:nvPicPr>
          <p:cNvPr id="7" name="Graphic 6" descr="Badge 4 with solid fill">
            <a:extLst>
              <a:ext uri="{FF2B5EF4-FFF2-40B4-BE49-F238E27FC236}">
                <a16:creationId xmlns:a16="http://schemas.microsoft.com/office/drawing/2014/main" id="{3002C7CA-4659-F9BC-64C8-B3AECF74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996" y="4288135"/>
            <a:ext cx="334108" cy="33410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2EC06B-4148-E57A-AB64-88B5B70ACC7A}"/>
              </a:ext>
            </a:extLst>
          </p:cNvPr>
          <p:cNvCxnSpPr/>
          <p:nvPr/>
        </p:nvCxnSpPr>
        <p:spPr>
          <a:xfrm>
            <a:off x="289367" y="4013722"/>
            <a:ext cx="116557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85A43FB-FC45-374B-1FDD-E6BBDA133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04" y="4424917"/>
            <a:ext cx="4727100" cy="1885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66EFE5-A8F8-5565-00F4-AD3ECEFE10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3" y="1670859"/>
            <a:ext cx="4815591" cy="193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36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2464F-B8F5-46B5-0161-3CED9494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167148"/>
            <a:ext cx="11759380" cy="993057"/>
          </a:xfrm>
        </p:spPr>
        <p:txBody>
          <a:bodyPr>
            <a:normAutofit/>
          </a:bodyPr>
          <a:lstStyle/>
          <a:p>
            <a:r>
              <a:rPr lang="en-IN" sz="4000" b="1" dirty="0"/>
              <a:t>IN</a:t>
            </a:r>
            <a:r>
              <a:rPr lang="en-IN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5E45E5-4E89-2419-D29A-CDA0CFA87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304941"/>
              </p:ext>
            </p:extLst>
          </p:nvPr>
        </p:nvGraphicFramePr>
        <p:xfrm>
          <a:off x="167147" y="1288026"/>
          <a:ext cx="11759381" cy="5329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880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5FF064-8FE0-7F35-C016-2239B6360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17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1255</Words>
  <Application>Microsoft Office PowerPoint</Application>
  <PresentationFormat>Widescreen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METROPULSE</vt:lpstr>
      <vt:lpstr>PROJECT OVERVIEW</vt:lpstr>
      <vt:lpstr>DATABASE STRUCTURE         ER Diagram of MetroPluse Database (8 Tables)</vt:lpstr>
      <vt:lpstr>CREATE TABLES</vt:lpstr>
      <vt:lpstr>CREATE TABLES</vt:lpstr>
      <vt:lpstr>TABLE STRUCTURE         MySQL Table Definitions Using DESC Command</vt:lpstr>
      <vt:lpstr>TABLE STRUCTURE         MySQL Table Definitions Using DESC Command</vt:lpstr>
      <vt:lpstr>TABLE STRUCTURE         MySQL Table Definitions Using DESC Command</vt:lpstr>
      <vt:lpstr>CONTENTS OF TABLES      Sample Records From The MetroPulse Database</vt:lpstr>
      <vt:lpstr>CONTENTS OF TABLES       Sample Records From The MetroPulse Database Using SELECT *</vt:lpstr>
      <vt:lpstr>SUBQUERIES           Business questions solved using nested SQL queries</vt:lpstr>
      <vt:lpstr>SUBQUERIES          Business questions solved using nested SQL queries</vt:lpstr>
      <vt:lpstr>JOINS   Combining related tables to analyze Metro transaction data</vt:lpstr>
      <vt:lpstr>JOINS   Combining related tables to analyze Metro transaction data</vt:lpstr>
      <vt:lpstr>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Nivedita Malik</dc:creator>
  <cp:lastModifiedBy>Nivedita Malik</cp:lastModifiedBy>
  <cp:revision>2</cp:revision>
  <dcterms:created xsi:type="dcterms:W3CDTF">2026-09-05T14:55:23Z</dcterms:created>
  <dcterms:modified xsi:type="dcterms:W3CDTF">2026-10-25T14:13:10Z</dcterms:modified>
</cp:coreProperties>
</file>